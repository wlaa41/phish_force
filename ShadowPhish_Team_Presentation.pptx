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7091A"/>
        </a:solidFill>
        <a:effectLst/>
      </p:bgPr>
    </p:bg>
    <p:spTree>
      <p:nvGrpSpPr>
        <p:cNvPr id="1" name=""/>
        <p:cNvGrpSpPr/>
        <p:nvPr/>
      </p:nvGrpSpPr>
      <p:grpSpPr/>
      <p:sp>
        <p:nvSpPr>
          <p:cNvPr id="2" name="Rectangle 1"/>
          <p:cNvSpPr/>
          <p:nvPr/>
        </p:nvSpPr>
        <p:spPr>
          <a:xfrm>
            <a:off x="0" y="0"/>
            <a:ext cx="9144000" cy="45720"/>
          </a:xfrm>
          <a:prstGeom prst="rect">
            <a:avLst/>
          </a:prstGeom>
          <a:solidFill>
            <a:srgbClr val="8B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0" y="91440"/>
            <a:ext cx="4754880" cy="256032"/>
          </a:xfrm>
          <a:prstGeom prst="rect">
            <a:avLst/>
          </a:prstGeom>
          <a:noFill/>
        </p:spPr>
        <p:txBody>
          <a:bodyPr wrap="square">
            <a:spAutoFit/>
          </a:bodyPr>
          <a:lstStyle/>
          <a:p>
            <a:pPr algn="r"/>
            <a:r>
              <a:rPr sz="900" b="0" i="0">
                <a:solidFill>
                  <a:srgbClr val="505878"/>
                </a:solidFill>
                <a:latin typeface="Calibri"/>
              </a:rPr>
              <a:t>ShadowPhish  -  Coventry University  -  503IT</a:t>
            </a:r>
          </a:p>
        </p:txBody>
      </p:sp>
      <p:sp>
        <p:nvSpPr>
          <p:cNvPr id="4" name="Rectangle 3"/>
          <p:cNvSpPr/>
          <p:nvPr/>
        </p:nvSpPr>
        <p:spPr>
          <a:xfrm>
            <a:off x="411480" y="502920"/>
            <a:ext cx="59436" cy="640080"/>
          </a:xfrm>
          <a:prstGeom prst="rect">
            <a:avLst/>
          </a:prstGeom>
          <a:solidFill>
            <a:srgbClr val="8B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30352" y="475488"/>
            <a:ext cx="5486400" cy="384048"/>
          </a:xfrm>
          <a:prstGeom prst="rect">
            <a:avLst/>
          </a:prstGeom>
          <a:noFill/>
        </p:spPr>
        <p:txBody>
          <a:bodyPr wrap="square">
            <a:spAutoFit/>
          </a:bodyPr>
          <a:lstStyle/>
          <a:p>
            <a:pPr algn="l"/>
            <a:r>
              <a:rPr sz="2600" b="1" i="0">
                <a:solidFill>
                  <a:srgbClr val="FFFFFF"/>
                </a:solidFill>
                <a:latin typeface="Calibri"/>
              </a:rPr>
              <a:t>Prateek Rana</a:t>
            </a:r>
          </a:p>
        </p:txBody>
      </p:sp>
      <p:sp>
        <p:nvSpPr>
          <p:cNvPr id="6" name="TextBox 5"/>
          <p:cNvSpPr txBox="1"/>
          <p:nvPr/>
        </p:nvSpPr>
        <p:spPr>
          <a:xfrm>
            <a:off x="530352" y="859536"/>
            <a:ext cx="6400800" cy="274320"/>
          </a:xfrm>
          <a:prstGeom prst="rect">
            <a:avLst/>
          </a:prstGeom>
          <a:noFill/>
        </p:spPr>
        <p:txBody>
          <a:bodyPr wrap="square">
            <a:spAutoFit/>
          </a:bodyPr>
          <a:lstStyle/>
          <a:p>
            <a:pPr algn="l"/>
            <a:r>
              <a:rPr sz="1300" b="0" i="1">
                <a:solidFill>
                  <a:srgbClr val="8B00FF"/>
                </a:solidFill>
                <a:latin typeface="Calibri"/>
              </a:rPr>
              <a:t>Project Lead  -  Backend, Architecture &amp; Story</a:t>
            </a:r>
          </a:p>
        </p:txBody>
      </p:sp>
      <p:sp>
        <p:nvSpPr>
          <p:cNvPr id="7" name="Rectangle 6"/>
          <p:cNvSpPr/>
          <p:nvPr/>
        </p:nvSpPr>
        <p:spPr>
          <a:xfrm>
            <a:off x="411480" y="1325880"/>
            <a:ext cx="2148840" cy="301752"/>
          </a:xfrm>
          <a:prstGeom prst="rect">
            <a:avLst/>
          </a:prstGeom>
          <a:solidFill>
            <a:srgbClr val="111630"/>
          </a:solidFill>
          <a:ln w="15240">
            <a:solidFill>
              <a:srgbClr val="8B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1344168"/>
            <a:ext cx="2148840" cy="274320"/>
          </a:xfrm>
          <a:prstGeom prst="rect">
            <a:avLst/>
          </a:prstGeom>
          <a:noFill/>
        </p:spPr>
        <p:txBody>
          <a:bodyPr wrap="square">
            <a:spAutoFit/>
          </a:bodyPr>
          <a:lstStyle/>
          <a:p>
            <a:pPr algn="ctr"/>
            <a:r>
              <a:rPr sz="1000" b="1" i="0">
                <a:solidFill>
                  <a:srgbClr val="FFFFFF"/>
                </a:solidFill>
                <a:latin typeface="Calibri"/>
              </a:rPr>
              <a:t>KEY CONTRIBUTIONS</a:t>
            </a:r>
          </a:p>
        </p:txBody>
      </p:sp>
      <p:sp>
        <p:nvSpPr>
          <p:cNvPr id="9" name="Rectangle 8"/>
          <p:cNvSpPr/>
          <p:nvPr/>
        </p:nvSpPr>
        <p:spPr>
          <a:xfrm>
            <a:off x="411480" y="1691640"/>
            <a:ext cx="4069080" cy="2926080"/>
          </a:xfrm>
          <a:prstGeom prst="rect">
            <a:avLst/>
          </a:prstGeom>
          <a:solidFill>
            <a:srgbClr val="111630"/>
          </a:solidFill>
          <a:ln w="15240">
            <a:solidFill>
              <a:srgbClr val="8B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1691640"/>
            <a:ext cx="50292" cy="2926080"/>
          </a:xfrm>
          <a:prstGeom prst="rect">
            <a:avLst/>
          </a:prstGeom>
          <a:solidFill>
            <a:srgbClr val="8B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6072" y="1801368"/>
            <a:ext cx="3813048" cy="2724912"/>
          </a:xfrm>
          <a:prstGeom prst="rect">
            <a:avLst/>
          </a:prstGeom>
          <a:noFill/>
        </p:spPr>
        <p:txBody>
          <a:bodyPr wrap="square">
            <a:spAutoFit/>
          </a:bodyPr>
          <a:lstStyle/>
          <a:p>
            <a:pPr marL="109728" indent="-109728"/>
            <a:r>
              <a:rPr sz="1200">
                <a:solidFill>
                  <a:srgbClr val="B0B8CC"/>
                </a:solidFill>
                <a:latin typeface="Calibri"/>
              </a:rPr>
              <a:t>&gt;  Defined Game Design &amp; Architecture - the blueprint for the project</a:t>
            </a:r>
          </a:p>
          <a:p>
            <a:pPr marL="109728" indent="-109728" spcBef="2540000"/>
            <a:r>
              <a:rPr sz="1200">
                <a:solidFill>
                  <a:srgbClr val="B0B8CC"/>
                </a:solidFill>
                <a:latin typeface="Calibri"/>
              </a:rPr>
              <a:t>&gt;  Completed Backend API Setup - core server logic built and merged</a:t>
            </a:r>
          </a:p>
          <a:p>
            <a:pPr marL="109728" indent="-109728" spcBef="2540000"/>
            <a:r>
              <a:rPr sz="1200">
                <a:solidFill>
                  <a:srgbClr val="B0B8CC"/>
                </a:solidFill>
                <a:latin typeface="Calibri"/>
              </a:rPr>
              <a:t>&gt;  Built Frontend UI Framework used across all game pages</a:t>
            </a:r>
          </a:p>
          <a:p>
            <a:pPr marL="109728" indent="-109728" spcBef="2540000"/>
            <a:r>
              <a:rPr sz="1200">
                <a:solidFill>
                  <a:srgbClr val="B0B8CC"/>
                </a:solidFill>
                <a:latin typeface="Calibri"/>
              </a:rPr>
              <a:t>&gt;  Designed Graphics &amp; Icons for the cyberpunk visual theme</a:t>
            </a:r>
          </a:p>
          <a:p>
            <a:pPr marL="109728" indent="-109728" spcBef="2540000"/>
            <a:r>
              <a:rPr sz="1200">
                <a:solidFill>
                  <a:srgbClr val="B0B8CC"/>
                </a:solidFill>
                <a:latin typeface="Calibri"/>
              </a:rPr>
              <a:t>&gt;  Wrote the game Story and led Documentation with Prathish</a:t>
            </a:r>
          </a:p>
          <a:p>
            <a:pPr marL="109728" indent="-109728" spcBef="2540000"/>
            <a:r>
              <a:rPr sz="1200">
                <a:solidFill>
                  <a:srgbClr val="B0B8CC"/>
                </a:solidFill>
                <a:latin typeface="Calibri"/>
              </a:rPr>
              <a:t>&gt;  Planned Trophy System and Daily Challenge System features</a:t>
            </a:r>
          </a:p>
          <a:p>
            <a:pPr marL="109728" indent="-109728" spcBef="2540000"/>
            <a:r>
              <a:rPr sz="1200">
                <a:solidFill>
                  <a:srgbClr val="B0B8CC"/>
                </a:solidFill>
                <a:latin typeface="Calibri"/>
              </a:rPr>
              <a:t>&gt;  Kept Planner board updated throughout the project lifecycle</a:t>
            </a:r>
          </a:p>
        </p:txBody>
      </p:sp>
      <p:sp>
        <p:nvSpPr>
          <p:cNvPr id="12" name="Rectangle 11"/>
          <p:cNvSpPr/>
          <p:nvPr/>
        </p:nvSpPr>
        <p:spPr>
          <a:xfrm>
            <a:off x="4800600" y="1325880"/>
            <a:ext cx="2148840" cy="301752"/>
          </a:xfrm>
          <a:prstGeom prst="rect">
            <a:avLst/>
          </a:prstGeom>
          <a:solidFill>
            <a:srgbClr val="111630"/>
          </a:solidFill>
          <a:ln w="15240">
            <a:solidFill>
              <a:srgbClr val="00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1344168"/>
            <a:ext cx="2148840" cy="274320"/>
          </a:xfrm>
          <a:prstGeom prst="rect">
            <a:avLst/>
          </a:prstGeom>
          <a:noFill/>
        </p:spPr>
        <p:txBody>
          <a:bodyPr wrap="square">
            <a:spAutoFit/>
          </a:bodyPr>
          <a:lstStyle/>
          <a:p>
            <a:pPr algn="ctr"/>
            <a:r>
              <a:rPr sz="1000" b="1" i="0">
                <a:solidFill>
                  <a:srgbClr val="FFFFFF"/>
                </a:solidFill>
                <a:latin typeface="Calibri"/>
              </a:rPr>
              <a:t>PLANNER TASKS</a:t>
            </a:r>
          </a:p>
        </p:txBody>
      </p:sp>
      <p:sp>
        <p:nvSpPr>
          <p:cNvPr id="14" name="Rectangle 13"/>
          <p:cNvSpPr/>
          <p:nvPr/>
        </p:nvSpPr>
        <p:spPr>
          <a:xfrm>
            <a:off x="4800600" y="1691640"/>
            <a:ext cx="3931920" cy="2926080"/>
          </a:xfrm>
          <a:prstGeom prst="rect">
            <a:avLst/>
          </a:prstGeom>
          <a:solidFill>
            <a:srgbClr val="111630"/>
          </a:solidFill>
          <a:ln w="15240">
            <a:solidFill>
              <a:srgbClr val="00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800600" y="1691640"/>
            <a:ext cx="50292" cy="292608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965192" y="1801368"/>
            <a:ext cx="3675888" cy="2724912"/>
          </a:xfrm>
          <a:prstGeom prst="rect">
            <a:avLst/>
          </a:prstGeom>
          <a:noFill/>
        </p:spPr>
        <p:txBody>
          <a:bodyPr wrap="square">
            <a:spAutoFit/>
          </a:bodyPr>
          <a:lstStyle/>
          <a:p>
            <a:pPr marL="109728" indent="-109728"/>
            <a:r>
              <a:rPr sz="1200">
                <a:solidFill>
                  <a:srgbClr val="B0B8CC"/>
                </a:solidFill>
                <a:latin typeface="Calibri"/>
              </a:rPr>
              <a:t>&gt;  Game Design &amp; Architecture  [done]</a:t>
            </a:r>
          </a:p>
          <a:p>
            <a:pPr marL="109728" indent="-109728" spcBef="2540000"/>
            <a:r>
              <a:rPr sz="1200">
                <a:solidFill>
                  <a:srgbClr val="B0B8CC"/>
                </a:solidFill>
                <a:latin typeface="Calibri"/>
              </a:rPr>
              <a:t>&gt;  Backend API Setup  [done - Completed]</a:t>
            </a:r>
          </a:p>
          <a:p>
            <a:pPr marL="109728" indent="-109728" spcBef="2540000"/>
            <a:r>
              <a:rPr sz="1200">
                <a:solidFill>
                  <a:srgbClr val="B0B8CC"/>
                </a:solidFill>
                <a:latin typeface="Calibri"/>
              </a:rPr>
              <a:t>&gt;  Frontend UI Framework  [done]</a:t>
            </a:r>
          </a:p>
          <a:p>
            <a:pPr marL="109728" indent="-109728" spcBef="2540000"/>
            <a:r>
              <a:rPr sz="1200">
                <a:solidFill>
                  <a:srgbClr val="B0B8CC"/>
                </a:solidFill>
                <a:latin typeface="Calibri"/>
              </a:rPr>
              <a:t>&gt;  Graphics &amp; Icons  [done]</a:t>
            </a:r>
          </a:p>
          <a:p>
            <a:pPr marL="109728" indent="-109728" spcBef="2540000"/>
            <a:r>
              <a:rPr sz="1200">
                <a:solidFill>
                  <a:srgbClr val="B0B8CC"/>
                </a:solidFill>
                <a:latin typeface="Calibri"/>
              </a:rPr>
              <a:t>&gt;  Documentation  [done]</a:t>
            </a:r>
          </a:p>
          <a:p>
            <a:pPr marL="109728" indent="-109728" spcBef="2540000"/>
            <a:r>
              <a:rPr sz="1200">
                <a:solidFill>
                  <a:srgbClr val="B0B8CC"/>
                </a:solidFill>
                <a:latin typeface="Calibri"/>
              </a:rPr>
              <a:t>&gt;  Story Writing  [Review - in sign-off]</a:t>
            </a:r>
          </a:p>
          <a:p>
            <a:pPr marL="109728" indent="-109728" spcBef="2540000"/>
            <a:r>
              <a:rPr sz="1200">
                <a:solidFill>
                  <a:srgbClr val="B0B8CC"/>
                </a:solidFill>
                <a:latin typeface="Calibri"/>
              </a:rPr>
              <a:t>&gt;  Trophy System  [To do]</a:t>
            </a:r>
          </a:p>
          <a:p>
            <a:pPr marL="109728" indent="-109728" spcBef="2540000"/>
            <a:r>
              <a:rPr sz="1200">
                <a:solidFill>
                  <a:srgbClr val="B0B8CC"/>
                </a:solidFill>
                <a:latin typeface="Calibri"/>
              </a:rPr>
              <a:t>&gt;  Daily Challenge System  [done]</a:t>
            </a:r>
          </a:p>
          <a:p>
            <a:pPr marL="109728" indent="-109728" spcBef="2540000"/>
            <a:r>
              <a:rPr sz="1200">
                <a:solidFill>
                  <a:srgbClr val="B0B8CC"/>
                </a:solidFill>
                <a:latin typeface="Calibri"/>
              </a:rPr>
              <a:t>&gt;  QA Testing - full game  [done]</a:t>
            </a:r>
          </a:p>
        </p:txBody>
      </p:sp>
      <p:sp>
        <p:nvSpPr>
          <p:cNvPr id="17" name="TextBox 16"/>
          <p:cNvSpPr txBox="1"/>
          <p:nvPr/>
        </p:nvSpPr>
        <p:spPr>
          <a:xfrm>
            <a:off x="8046720" y="4754880"/>
            <a:ext cx="822960" cy="274320"/>
          </a:xfrm>
          <a:prstGeom prst="rect">
            <a:avLst/>
          </a:prstGeom>
          <a:noFill/>
        </p:spPr>
        <p:txBody>
          <a:bodyPr wrap="square">
            <a:spAutoFit/>
          </a:bodyPr>
          <a:lstStyle/>
          <a:p>
            <a:pPr algn="r"/>
            <a:r>
              <a:rPr sz="1000" b="0" i="0">
                <a:solidFill>
                  <a:srgbClr val="505878"/>
                </a:solidFill>
                <a:latin typeface="Calibri"/>
              </a:rPr>
              <a:t>1 / 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7091A"/>
        </a:solidFill>
        <a:effectLst/>
      </p:bgPr>
    </p:bg>
    <p:spTree>
      <p:nvGrpSpPr>
        <p:cNvPr id="1" name=""/>
        <p:cNvGrpSpPr/>
        <p:nvPr/>
      </p:nvGrpSpPr>
      <p:grpSpPr/>
      <p:sp>
        <p:nvSpPr>
          <p:cNvPr id="2" name="Rectangle 1"/>
          <p:cNvSpPr/>
          <p:nvPr/>
        </p:nvSpPr>
        <p:spPr>
          <a:xfrm>
            <a:off x="0" y="0"/>
            <a:ext cx="9144000" cy="45720"/>
          </a:xfrm>
          <a:prstGeom prst="rect">
            <a:avLst/>
          </a:prstGeom>
          <a:solidFill>
            <a:srgbClr val="8B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0" y="91440"/>
            <a:ext cx="4754880" cy="256032"/>
          </a:xfrm>
          <a:prstGeom prst="rect">
            <a:avLst/>
          </a:prstGeom>
          <a:noFill/>
        </p:spPr>
        <p:txBody>
          <a:bodyPr wrap="square">
            <a:spAutoFit/>
          </a:bodyPr>
          <a:lstStyle/>
          <a:p>
            <a:pPr algn="r"/>
            <a:r>
              <a:rPr sz="900" b="0" i="0">
                <a:solidFill>
                  <a:srgbClr val="505878"/>
                </a:solidFill>
                <a:latin typeface="Calibri"/>
              </a:rPr>
              <a:t>ShadowPhish  -  Coventry University  -  503IT</a:t>
            </a:r>
          </a:p>
        </p:txBody>
      </p:sp>
      <p:sp>
        <p:nvSpPr>
          <p:cNvPr id="4" name="Rectangle 3"/>
          <p:cNvSpPr/>
          <p:nvPr/>
        </p:nvSpPr>
        <p:spPr>
          <a:xfrm>
            <a:off x="411480" y="502920"/>
            <a:ext cx="59436" cy="640080"/>
          </a:xfrm>
          <a:prstGeom prst="rect">
            <a:avLst/>
          </a:prstGeom>
          <a:solidFill>
            <a:srgbClr val="8B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30352" y="475488"/>
            <a:ext cx="5486400" cy="384048"/>
          </a:xfrm>
          <a:prstGeom prst="rect">
            <a:avLst/>
          </a:prstGeom>
          <a:noFill/>
        </p:spPr>
        <p:txBody>
          <a:bodyPr wrap="square">
            <a:spAutoFit/>
          </a:bodyPr>
          <a:lstStyle/>
          <a:p>
            <a:pPr algn="l"/>
            <a:r>
              <a:rPr sz="2600" b="1" i="0">
                <a:solidFill>
                  <a:srgbClr val="FFFFFF"/>
                </a:solidFill>
                <a:latin typeface="Calibri"/>
              </a:rPr>
              <a:t>Prateek Rana</a:t>
            </a:r>
          </a:p>
        </p:txBody>
      </p:sp>
      <p:sp>
        <p:nvSpPr>
          <p:cNvPr id="6" name="TextBox 5"/>
          <p:cNvSpPr txBox="1"/>
          <p:nvPr/>
        </p:nvSpPr>
        <p:spPr>
          <a:xfrm>
            <a:off x="530352" y="859536"/>
            <a:ext cx="6400800" cy="274320"/>
          </a:xfrm>
          <a:prstGeom prst="rect">
            <a:avLst/>
          </a:prstGeom>
          <a:noFill/>
        </p:spPr>
        <p:txBody>
          <a:bodyPr wrap="square">
            <a:spAutoFit/>
          </a:bodyPr>
          <a:lstStyle/>
          <a:p>
            <a:pPr algn="l"/>
            <a:r>
              <a:rPr sz="1300" b="0" i="1">
                <a:solidFill>
                  <a:srgbClr val="8B00FF"/>
                </a:solidFill>
                <a:latin typeface="Calibri"/>
              </a:rPr>
              <a:t>Challenge  &amp;  Solution</a:t>
            </a:r>
          </a:p>
        </p:txBody>
      </p:sp>
      <p:sp>
        <p:nvSpPr>
          <p:cNvPr id="7" name="Rectangle 6"/>
          <p:cNvSpPr/>
          <p:nvPr/>
        </p:nvSpPr>
        <p:spPr>
          <a:xfrm>
            <a:off x="411480" y="1325880"/>
            <a:ext cx="2148840" cy="301752"/>
          </a:xfrm>
          <a:prstGeom prst="rect">
            <a:avLst/>
          </a:prstGeom>
          <a:solidFill>
            <a:srgbClr val="111630"/>
          </a:solidFill>
          <a:ln w="15240">
            <a:solidFill>
              <a:srgbClr val="FF5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1344168"/>
            <a:ext cx="2148840" cy="274320"/>
          </a:xfrm>
          <a:prstGeom prst="rect">
            <a:avLst/>
          </a:prstGeom>
          <a:noFill/>
        </p:spPr>
        <p:txBody>
          <a:bodyPr wrap="square">
            <a:spAutoFit/>
          </a:bodyPr>
          <a:lstStyle/>
          <a:p>
            <a:pPr algn="ctr"/>
            <a:r>
              <a:rPr sz="1000" b="1" i="0">
                <a:solidFill>
                  <a:srgbClr val="FFFFFF"/>
                </a:solidFill>
                <a:latin typeface="Calibri"/>
              </a:rPr>
              <a:t>CHALLENGE</a:t>
            </a:r>
          </a:p>
        </p:txBody>
      </p:sp>
      <p:sp>
        <p:nvSpPr>
          <p:cNvPr id="9" name="Rectangle 8"/>
          <p:cNvSpPr/>
          <p:nvPr/>
        </p:nvSpPr>
        <p:spPr>
          <a:xfrm>
            <a:off x="411480" y="1691640"/>
            <a:ext cx="8321040" cy="1316736"/>
          </a:xfrm>
          <a:prstGeom prst="rect">
            <a:avLst/>
          </a:prstGeom>
          <a:solidFill>
            <a:srgbClr val="1A0A0A"/>
          </a:solidFill>
          <a:ln w="15240">
            <a:solidFill>
              <a:srgbClr val="FF5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1691640"/>
            <a:ext cx="50292" cy="1316736"/>
          </a:xfrm>
          <a:prstGeom prst="rect">
            <a:avLst/>
          </a:prstGeom>
          <a:solidFill>
            <a:srgbClr val="FF5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1792224"/>
            <a:ext cx="7955279" cy="1115568"/>
          </a:xfrm>
          <a:prstGeom prst="rect">
            <a:avLst/>
          </a:prstGeom>
          <a:noFill/>
        </p:spPr>
        <p:txBody>
          <a:bodyPr wrap="square">
            <a:spAutoFit/>
          </a:bodyPr>
          <a:lstStyle/>
          <a:p>
            <a:pPr algn="l"/>
            <a:r>
              <a:rPr sz="1300" b="0" i="0">
                <a:solidFill>
                  <a:srgbClr val="FFB0B0"/>
                </a:solidFill>
                <a:latin typeface="Calibri"/>
              </a:rPr>
              <a:t>The Intel Mission feedback bar shifted the entire quiz layout every time a player submitted an answer, making the game feel broken and pulling attention away from the phishing awareness content.</a:t>
            </a:r>
          </a:p>
        </p:txBody>
      </p:sp>
      <p:sp>
        <p:nvSpPr>
          <p:cNvPr id="12" name="Rectangle 11"/>
          <p:cNvSpPr/>
          <p:nvPr/>
        </p:nvSpPr>
        <p:spPr>
          <a:xfrm>
            <a:off x="411480" y="3145536"/>
            <a:ext cx="2148840" cy="301752"/>
          </a:xfrm>
          <a:prstGeom prst="rect">
            <a:avLst/>
          </a:prstGeom>
          <a:solidFill>
            <a:srgbClr val="111630"/>
          </a:solidFill>
          <a:ln w="15240">
            <a:solidFill>
              <a:srgbClr val="8B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1480" y="3163824"/>
            <a:ext cx="2148840" cy="274320"/>
          </a:xfrm>
          <a:prstGeom prst="rect">
            <a:avLst/>
          </a:prstGeom>
          <a:noFill/>
        </p:spPr>
        <p:txBody>
          <a:bodyPr wrap="square">
            <a:spAutoFit/>
          </a:bodyPr>
          <a:lstStyle/>
          <a:p>
            <a:pPr algn="ctr"/>
            <a:r>
              <a:rPr sz="1000" b="1" i="0">
                <a:solidFill>
                  <a:srgbClr val="FFFFFF"/>
                </a:solidFill>
                <a:latin typeface="Calibri"/>
              </a:rPr>
              <a:t>SOLUTION</a:t>
            </a:r>
          </a:p>
        </p:txBody>
      </p:sp>
      <p:sp>
        <p:nvSpPr>
          <p:cNvPr id="14" name="Rectangle 13"/>
          <p:cNvSpPr/>
          <p:nvPr/>
        </p:nvSpPr>
        <p:spPr>
          <a:xfrm>
            <a:off x="411480" y="3511296"/>
            <a:ext cx="8321040" cy="1143000"/>
          </a:xfrm>
          <a:prstGeom prst="rect">
            <a:avLst/>
          </a:prstGeom>
          <a:solidFill>
            <a:srgbClr val="111630"/>
          </a:solidFill>
          <a:ln w="15240">
            <a:solidFill>
              <a:srgbClr val="8B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1480" y="3511296"/>
            <a:ext cx="50292" cy="1143000"/>
          </a:xfrm>
          <a:prstGeom prst="rect">
            <a:avLst/>
          </a:prstGeom>
          <a:solidFill>
            <a:srgbClr val="8B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611880"/>
            <a:ext cx="7955279" cy="960120"/>
          </a:xfrm>
          <a:prstGeom prst="rect">
            <a:avLst/>
          </a:prstGeom>
          <a:noFill/>
        </p:spPr>
        <p:txBody>
          <a:bodyPr wrap="square">
            <a:spAutoFit/>
          </a:bodyPr>
          <a:lstStyle/>
          <a:p>
            <a:pPr algn="l"/>
            <a:r>
              <a:rPr sz="1300" b="0" i="0">
                <a:solidFill>
                  <a:srgbClr val="B0B8CC"/>
                </a:solidFill>
                <a:latin typeface="Calibri"/>
              </a:rPr>
              <a:t>Replaced display:none / display:block with visibility:hidden / visible and added a fixed min-height:56px to the bar element. The space is always reserved so no reflow occurs on answer - a one-rule CSS fix that eliminated all layout jumping during gameplay.</a:t>
            </a:r>
          </a:p>
        </p:txBody>
      </p:sp>
      <p:sp>
        <p:nvSpPr>
          <p:cNvPr id="17" name="TextBox 16"/>
          <p:cNvSpPr txBox="1"/>
          <p:nvPr/>
        </p:nvSpPr>
        <p:spPr>
          <a:xfrm>
            <a:off x="8046720" y="4754880"/>
            <a:ext cx="822960" cy="274320"/>
          </a:xfrm>
          <a:prstGeom prst="rect">
            <a:avLst/>
          </a:prstGeom>
          <a:noFill/>
        </p:spPr>
        <p:txBody>
          <a:bodyPr wrap="square">
            <a:spAutoFit/>
          </a:bodyPr>
          <a:lstStyle/>
          <a:p>
            <a:pPr algn="r"/>
            <a:r>
              <a:rPr sz="1000" b="0" i="0">
                <a:solidFill>
                  <a:srgbClr val="505878"/>
                </a:solidFill>
                <a:latin typeface="Calibri"/>
              </a:rPr>
              <a:t>2 /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7091A"/>
        </a:solidFill>
        <a:effectLst/>
      </p:bgPr>
    </p:bg>
    <p:spTree>
      <p:nvGrpSpPr>
        <p:cNvPr id="1" name=""/>
        <p:cNvGrpSpPr/>
        <p:nvPr/>
      </p:nvGrpSpPr>
      <p:grpSpPr/>
      <p:sp>
        <p:nvSpPr>
          <p:cNvPr id="2" name="Rectangle 1"/>
          <p:cNvSpPr/>
          <p:nvPr/>
        </p:nvSpPr>
        <p:spPr>
          <a:xfrm>
            <a:off x="0" y="0"/>
            <a:ext cx="9144000" cy="4572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0" y="91440"/>
            <a:ext cx="4754880" cy="256032"/>
          </a:xfrm>
          <a:prstGeom prst="rect">
            <a:avLst/>
          </a:prstGeom>
          <a:noFill/>
        </p:spPr>
        <p:txBody>
          <a:bodyPr wrap="square">
            <a:spAutoFit/>
          </a:bodyPr>
          <a:lstStyle/>
          <a:p>
            <a:pPr algn="r"/>
            <a:r>
              <a:rPr sz="900" b="0" i="0">
                <a:solidFill>
                  <a:srgbClr val="505878"/>
                </a:solidFill>
                <a:latin typeface="Calibri"/>
              </a:rPr>
              <a:t>ShadowPhish  -  Coventry University  -  503IT</a:t>
            </a:r>
          </a:p>
        </p:txBody>
      </p:sp>
      <p:sp>
        <p:nvSpPr>
          <p:cNvPr id="4" name="Rectangle 3"/>
          <p:cNvSpPr/>
          <p:nvPr/>
        </p:nvSpPr>
        <p:spPr>
          <a:xfrm>
            <a:off x="411480" y="502920"/>
            <a:ext cx="59436" cy="64008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30352" y="475488"/>
            <a:ext cx="5486400" cy="384048"/>
          </a:xfrm>
          <a:prstGeom prst="rect">
            <a:avLst/>
          </a:prstGeom>
          <a:noFill/>
        </p:spPr>
        <p:txBody>
          <a:bodyPr wrap="square">
            <a:spAutoFit/>
          </a:bodyPr>
          <a:lstStyle/>
          <a:p>
            <a:pPr algn="l"/>
            <a:r>
              <a:rPr sz="2600" b="1" i="0">
                <a:solidFill>
                  <a:srgbClr val="FFFFFF"/>
                </a:solidFill>
                <a:latin typeface="Calibri"/>
              </a:rPr>
              <a:t>Prathish Thangaraj</a:t>
            </a:r>
          </a:p>
        </p:txBody>
      </p:sp>
      <p:sp>
        <p:nvSpPr>
          <p:cNvPr id="6" name="TextBox 5"/>
          <p:cNvSpPr txBox="1"/>
          <p:nvPr/>
        </p:nvSpPr>
        <p:spPr>
          <a:xfrm>
            <a:off x="530352" y="859536"/>
            <a:ext cx="6400800" cy="274320"/>
          </a:xfrm>
          <a:prstGeom prst="rect">
            <a:avLst/>
          </a:prstGeom>
          <a:noFill/>
        </p:spPr>
        <p:txBody>
          <a:bodyPr wrap="square">
            <a:spAutoFit/>
          </a:bodyPr>
          <a:lstStyle/>
          <a:p>
            <a:pPr algn="l"/>
            <a:r>
              <a:rPr sz="1300" b="0" i="1">
                <a:solidFill>
                  <a:srgbClr val="00C8FF"/>
                </a:solidFill>
                <a:latin typeface="Calibri"/>
              </a:rPr>
              <a:t>UI Developer  -  Screen Design &amp; Load System</a:t>
            </a:r>
          </a:p>
        </p:txBody>
      </p:sp>
      <p:sp>
        <p:nvSpPr>
          <p:cNvPr id="7" name="Rectangle 6"/>
          <p:cNvSpPr/>
          <p:nvPr/>
        </p:nvSpPr>
        <p:spPr>
          <a:xfrm>
            <a:off x="411480" y="1325880"/>
            <a:ext cx="2148840" cy="301752"/>
          </a:xfrm>
          <a:prstGeom prst="rect">
            <a:avLst/>
          </a:prstGeom>
          <a:solidFill>
            <a:srgbClr val="111630"/>
          </a:solidFill>
          <a:ln w="15240">
            <a:solidFill>
              <a:srgbClr val="00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1344168"/>
            <a:ext cx="2148840" cy="274320"/>
          </a:xfrm>
          <a:prstGeom prst="rect">
            <a:avLst/>
          </a:prstGeom>
          <a:noFill/>
        </p:spPr>
        <p:txBody>
          <a:bodyPr wrap="square">
            <a:spAutoFit/>
          </a:bodyPr>
          <a:lstStyle/>
          <a:p>
            <a:pPr algn="ctr"/>
            <a:r>
              <a:rPr sz="1000" b="1" i="0">
                <a:solidFill>
                  <a:srgbClr val="FFFFFF"/>
                </a:solidFill>
                <a:latin typeface="Calibri"/>
              </a:rPr>
              <a:t>KEY CONTRIBUTIONS</a:t>
            </a:r>
          </a:p>
        </p:txBody>
      </p:sp>
      <p:sp>
        <p:nvSpPr>
          <p:cNvPr id="9" name="Rectangle 8"/>
          <p:cNvSpPr/>
          <p:nvPr/>
        </p:nvSpPr>
        <p:spPr>
          <a:xfrm>
            <a:off x="411480" y="1691640"/>
            <a:ext cx="4069080" cy="2926080"/>
          </a:xfrm>
          <a:prstGeom prst="rect">
            <a:avLst/>
          </a:prstGeom>
          <a:solidFill>
            <a:srgbClr val="111630"/>
          </a:solidFill>
          <a:ln w="15240">
            <a:solidFill>
              <a:srgbClr val="00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1691640"/>
            <a:ext cx="50292" cy="292608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6072" y="1801368"/>
            <a:ext cx="3813048" cy="2724912"/>
          </a:xfrm>
          <a:prstGeom prst="rect">
            <a:avLst/>
          </a:prstGeom>
          <a:noFill/>
        </p:spPr>
        <p:txBody>
          <a:bodyPr wrap="square">
            <a:spAutoFit/>
          </a:bodyPr>
          <a:lstStyle/>
          <a:p>
            <a:pPr marL="109728" indent="-109728"/>
            <a:r>
              <a:rPr sz="1200">
                <a:solidFill>
                  <a:srgbClr val="B0B8CC"/>
                </a:solidFill>
                <a:latin typeface="Calibri"/>
              </a:rPr>
              <a:t>&gt;  Completed Load Screen - first major screen fully built and merged</a:t>
            </a:r>
          </a:p>
          <a:p>
            <a:pPr marL="109728" indent="-109728" spcBef="2540000"/>
            <a:r>
              <a:rPr sz="1200">
                <a:solidFill>
                  <a:srgbClr val="B0B8CC"/>
                </a:solidFill>
                <a:latin typeface="Calibri"/>
              </a:rPr>
              <a:t>&gt;  Designing Level Screen layout (currently in progress)</a:t>
            </a:r>
          </a:p>
          <a:p>
            <a:pPr marL="109728" indent="-109728" spcBef="2540000"/>
            <a:r>
              <a:rPr sz="1200">
                <a:solidFill>
                  <a:srgbClr val="B0B8CC"/>
                </a:solidFill>
                <a:latin typeface="Calibri"/>
              </a:rPr>
              <a:t>&gt;  Co-designed Database Structure with Allen for player data model</a:t>
            </a:r>
          </a:p>
          <a:p>
            <a:pPr marL="109728" indent="-109728" spcBef="2540000"/>
            <a:r>
              <a:rPr sz="1200">
                <a:solidFill>
                  <a:srgbClr val="B0B8CC"/>
                </a:solidFill>
                <a:latin typeface="Calibri"/>
              </a:rPr>
              <a:t>&gt;  Co-authored Game Design &amp; Architecture and Documentation with Prateek</a:t>
            </a:r>
          </a:p>
          <a:p>
            <a:pPr marL="109728" indent="-109728" spcBef="2540000"/>
            <a:r>
              <a:rPr sz="1200">
                <a:solidFill>
                  <a:srgbClr val="B0B8CC"/>
                </a:solidFill>
                <a:latin typeface="Calibri"/>
              </a:rPr>
              <a:t>&gt;  Proposed Dark Mode UI feature for visual accessibility (in backlog)</a:t>
            </a:r>
          </a:p>
          <a:p>
            <a:pPr marL="109728" indent="-109728" spcBef="2540000"/>
            <a:r>
              <a:rPr sz="1200">
                <a:solidFill>
                  <a:srgbClr val="B0B8CC"/>
                </a:solidFill>
                <a:latin typeface="Calibri"/>
              </a:rPr>
              <a:t>&gt;  Developing Trophy System reward mechanics with Prateek</a:t>
            </a:r>
          </a:p>
        </p:txBody>
      </p:sp>
      <p:sp>
        <p:nvSpPr>
          <p:cNvPr id="12" name="Rectangle 11"/>
          <p:cNvSpPr/>
          <p:nvPr/>
        </p:nvSpPr>
        <p:spPr>
          <a:xfrm>
            <a:off x="4800600" y="1325880"/>
            <a:ext cx="2148840" cy="301752"/>
          </a:xfrm>
          <a:prstGeom prst="rect">
            <a:avLst/>
          </a:prstGeom>
          <a:solidFill>
            <a:srgbClr val="111630"/>
          </a:solidFill>
          <a:ln w="15240">
            <a:solidFill>
              <a:srgbClr val="00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1344168"/>
            <a:ext cx="2148840" cy="274320"/>
          </a:xfrm>
          <a:prstGeom prst="rect">
            <a:avLst/>
          </a:prstGeom>
          <a:noFill/>
        </p:spPr>
        <p:txBody>
          <a:bodyPr wrap="square">
            <a:spAutoFit/>
          </a:bodyPr>
          <a:lstStyle/>
          <a:p>
            <a:pPr algn="ctr"/>
            <a:r>
              <a:rPr sz="1000" b="1" i="0">
                <a:solidFill>
                  <a:srgbClr val="FFFFFF"/>
                </a:solidFill>
                <a:latin typeface="Calibri"/>
              </a:rPr>
              <a:t>PLANNER TASKS</a:t>
            </a:r>
          </a:p>
        </p:txBody>
      </p:sp>
      <p:sp>
        <p:nvSpPr>
          <p:cNvPr id="14" name="Rectangle 13"/>
          <p:cNvSpPr/>
          <p:nvPr/>
        </p:nvSpPr>
        <p:spPr>
          <a:xfrm>
            <a:off x="4800600" y="1691640"/>
            <a:ext cx="3931920" cy="2926080"/>
          </a:xfrm>
          <a:prstGeom prst="rect">
            <a:avLst/>
          </a:prstGeom>
          <a:solidFill>
            <a:srgbClr val="111630"/>
          </a:solidFill>
          <a:ln w="15240">
            <a:solidFill>
              <a:srgbClr val="00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800600" y="1691640"/>
            <a:ext cx="50292" cy="292608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965192" y="1801368"/>
            <a:ext cx="3675888" cy="2724912"/>
          </a:xfrm>
          <a:prstGeom prst="rect">
            <a:avLst/>
          </a:prstGeom>
          <a:noFill/>
        </p:spPr>
        <p:txBody>
          <a:bodyPr wrap="square">
            <a:spAutoFit/>
          </a:bodyPr>
          <a:lstStyle/>
          <a:p>
            <a:pPr marL="109728" indent="-109728"/>
            <a:r>
              <a:rPr sz="1200">
                <a:solidFill>
                  <a:srgbClr val="B0B8CC"/>
                </a:solidFill>
                <a:latin typeface="Calibri"/>
              </a:rPr>
              <a:t>&gt;  Load Screen  [done - Completed]</a:t>
            </a:r>
          </a:p>
          <a:p>
            <a:pPr marL="109728" indent="-109728" spcBef="2540000"/>
            <a:r>
              <a:rPr sz="1200">
                <a:solidFill>
                  <a:srgbClr val="B0B8CC"/>
                </a:solidFill>
                <a:latin typeface="Calibri"/>
              </a:rPr>
              <a:t>&gt;  Level Screen Design  [doing - In progress]</a:t>
            </a:r>
          </a:p>
          <a:p>
            <a:pPr marL="109728" indent="-109728" spcBef="2540000"/>
            <a:r>
              <a:rPr sz="1200">
                <a:solidFill>
                  <a:srgbClr val="B0B8CC"/>
                </a:solidFill>
                <a:latin typeface="Calibri"/>
              </a:rPr>
              <a:t>&gt;  Database Structure Design  [done]</a:t>
            </a:r>
          </a:p>
          <a:p>
            <a:pPr marL="109728" indent="-109728" spcBef="2540000"/>
            <a:r>
              <a:rPr sz="1200">
                <a:solidFill>
                  <a:srgbClr val="B0B8CC"/>
                </a:solidFill>
                <a:latin typeface="Calibri"/>
              </a:rPr>
              <a:t>&gt;  Game Design &amp; Architecture  [done]</a:t>
            </a:r>
          </a:p>
          <a:p>
            <a:pPr marL="109728" indent="-109728" spcBef="2540000"/>
            <a:r>
              <a:rPr sz="1200">
                <a:solidFill>
                  <a:srgbClr val="B0B8CC"/>
                </a:solidFill>
                <a:latin typeface="Calibri"/>
              </a:rPr>
              <a:t>&gt;  Documentation  [done]</a:t>
            </a:r>
          </a:p>
          <a:p>
            <a:pPr marL="109728" indent="-109728" spcBef="2540000"/>
            <a:r>
              <a:rPr sz="1200">
                <a:solidFill>
                  <a:srgbClr val="B0B8CC"/>
                </a:solidFill>
                <a:latin typeface="Calibri"/>
              </a:rPr>
              <a:t>&gt;  Trophy System  [To do]</a:t>
            </a:r>
          </a:p>
          <a:p>
            <a:pPr marL="109728" indent="-109728" spcBef="2540000"/>
            <a:r>
              <a:rPr sz="1200">
                <a:solidFill>
                  <a:srgbClr val="B0B8CC"/>
                </a:solidFill>
                <a:latin typeface="Calibri"/>
              </a:rPr>
              <a:t>&gt;  Dark Mode UI  [backlogs]</a:t>
            </a:r>
          </a:p>
        </p:txBody>
      </p:sp>
      <p:sp>
        <p:nvSpPr>
          <p:cNvPr id="17" name="TextBox 16"/>
          <p:cNvSpPr txBox="1"/>
          <p:nvPr/>
        </p:nvSpPr>
        <p:spPr>
          <a:xfrm>
            <a:off x="8046720" y="4754880"/>
            <a:ext cx="822960" cy="274320"/>
          </a:xfrm>
          <a:prstGeom prst="rect">
            <a:avLst/>
          </a:prstGeom>
          <a:noFill/>
        </p:spPr>
        <p:txBody>
          <a:bodyPr wrap="square">
            <a:spAutoFit/>
          </a:bodyPr>
          <a:lstStyle/>
          <a:p>
            <a:pPr algn="r"/>
            <a:r>
              <a:rPr sz="1000" b="0" i="0">
                <a:solidFill>
                  <a:srgbClr val="505878"/>
                </a:solidFill>
                <a:latin typeface="Calibri"/>
              </a:rPr>
              <a:t>3 / 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7091A"/>
        </a:solidFill>
        <a:effectLst/>
      </p:bgPr>
    </p:bg>
    <p:spTree>
      <p:nvGrpSpPr>
        <p:cNvPr id="1" name=""/>
        <p:cNvGrpSpPr/>
        <p:nvPr/>
      </p:nvGrpSpPr>
      <p:grpSpPr/>
      <p:sp>
        <p:nvSpPr>
          <p:cNvPr id="2" name="Rectangle 1"/>
          <p:cNvSpPr/>
          <p:nvPr/>
        </p:nvSpPr>
        <p:spPr>
          <a:xfrm>
            <a:off x="0" y="0"/>
            <a:ext cx="9144000" cy="4572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0" y="91440"/>
            <a:ext cx="4754880" cy="256032"/>
          </a:xfrm>
          <a:prstGeom prst="rect">
            <a:avLst/>
          </a:prstGeom>
          <a:noFill/>
        </p:spPr>
        <p:txBody>
          <a:bodyPr wrap="square">
            <a:spAutoFit/>
          </a:bodyPr>
          <a:lstStyle/>
          <a:p>
            <a:pPr algn="r"/>
            <a:r>
              <a:rPr sz="900" b="0" i="0">
                <a:solidFill>
                  <a:srgbClr val="505878"/>
                </a:solidFill>
                <a:latin typeface="Calibri"/>
              </a:rPr>
              <a:t>ShadowPhish  -  Coventry University  -  503IT</a:t>
            </a:r>
          </a:p>
        </p:txBody>
      </p:sp>
      <p:sp>
        <p:nvSpPr>
          <p:cNvPr id="4" name="Rectangle 3"/>
          <p:cNvSpPr/>
          <p:nvPr/>
        </p:nvSpPr>
        <p:spPr>
          <a:xfrm>
            <a:off x="411480" y="502920"/>
            <a:ext cx="59436" cy="64008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30352" y="475488"/>
            <a:ext cx="5486400" cy="384048"/>
          </a:xfrm>
          <a:prstGeom prst="rect">
            <a:avLst/>
          </a:prstGeom>
          <a:noFill/>
        </p:spPr>
        <p:txBody>
          <a:bodyPr wrap="square">
            <a:spAutoFit/>
          </a:bodyPr>
          <a:lstStyle/>
          <a:p>
            <a:pPr algn="l"/>
            <a:r>
              <a:rPr sz="2600" b="1" i="0">
                <a:solidFill>
                  <a:srgbClr val="FFFFFF"/>
                </a:solidFill>
                <a:latin typeface="Calibri"/>
              </a:rPr>
              <a:t>Prathish Thangaraj</a:t>
            </a:r>
          </a:p>
        </p:txBody>
      </p:sp>
      <p:sp>
        <p:nvSpPr>
          <p:cNvPr id="6" name="TextBox 5"/>
          <p:cNvSpPr txBox="1"/>
          <p:nvPr/>
        </p:nvSpPr>
        <p:spPr>
          <a:xfrm>
            <a:off x="530352" y="859536"/>
            <a:ext cx="6400800" cy="274320"/>
          </a:xfrm>
          <a:prstGeom prst="rect">
            <a:avLst/>
          </a:prstGeom>
          <a:noFill/>
        </p:spPr>
        <p:txBody>
          <a:bodyPr wrap="square">
            <a:spAutoFit/>
          </a:bodyPr>
          <a:lstStyle/>
          <a:p>
            <a:pPr algn="l"/>
            <a:r>
              <a:rPr sz="1300" b="0" i="1">
                <a:solidFill>
                  <a:srgbClr val="00C8FF"/>
                </a:solidFill>
                <a:latin typeface="Calibri"/>
              </a:rPr>
              <a:t>Challenge  &amp;  Solution</a:t>
            </a:r>
          </a:p>
        </p:txBody>
      </p:sp>
      <p:sp>
        <p:nvSpPr>
          <p:cNvPr id="7" name="Rectangle 6"/>
          <p:cNvSpPr/>
          <p:nvPr/>
        </p:nvSpPr>
        <p:spPr>
          <a:xfrm>
            <a:off x="411480" y="1325880"/>
            <a:ext cx="2148840" cy="301752"/>
          </a:xfrm>
          <a:prstGeom prst="rect">
            <a:avLst/>
          </a:prstGeom>
          <a:solidFill>
            <a:srgbClr val="111630"/>
          </a:solidFill>
          <a:ln w="15240">
            <a:solidFill>
              <a:srgbClr val="FF5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1344168"/>
            <a:ext cx="2148840" cy="274320"/>
          </a:xfrm>
          <a:prstGeom prst="rect">
            <a:avLst/>
          </a:prstGeom>
          <a:noFill/>
        </p:spPr>
        <p:txBody>
          <a:bodyPr wrap="square">
            <a:spAutoFit/>
          </a:bodyPr>
          <a:lstStyle/>
          <a:p>
            <a:pPr algn="ctr"/>
            <a:r>
              <a:rPr sz="1000" b="1" i="0">
                <a:solidFill>
                  <a:srgbClr val="FFFFFF"/>
                </a:solidFill>
                <a:latin typeface="Calibri"/>
              </a:rPr>
              <a:t>CHALLENGE</a:t>
            </a:r>
          </a:p>
        </p:txBody>
      </p:sp>
      <p:sp>
        <p:nvSpPr>
          <p:cNvPr id="9" name="Rectangle 8"/>
          <p:cNvSpPr/>
          <p:nvPr/>
        </p:nvSpPr>
        <p:spPr>
          <a:xfrm>
            <a:off x="411480" y="1691640"/>
            <a:ext cx="8321040" cy="1316736"/>
          </a:xfrm>
          <a:prstGeom prst="rect">
            <a:avLst/>
          </a:prstGeom>
          <a:solidFill>
            <a:srgbClr val="1A0A0A"/>
          </a:solidFill>
          <a:ln w="15240">
            <a:solidFill>
              <a:srgbClr val="FF5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1691640"/>
            <a:ext cx="50292" cy="1316736"/>
          </a:xfrm>
          <a:prstGeom prst="rect">
            <a:avLst/>
          </a:prstGeom>
          <a:solidFill>
            <a:srgbClr val="FF5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1792224"/>
            <a:ext cx="7955279" cy="1115568"/>
          </a:xfrm>
          <a:prstGeom prst="rect">
            <a:avLst/>
          </a:prstGeom>
          <a:noFill/>
        </p:spPr>
        <p:txBody>
          <a:bodyPr wrap="square">
            <a:spAutoFit/>
          </a:bodyPr>
          <a:lstStyle/>
          <a:p>
            <a:pPr algn="l"/>
            <a:r>
              <a:rPr sz="1300" b="0" i="0">
                <a:solidFill>
                  <a:srgbClr val="FFB0B0"/>
                </a:solidFill>
                <a:latin typeface="Calibri"/>
              </a:rPr>
              <a:t>Player progress (coins, hearts, XP) was being silently lost whenever the user navigated between pages. The game appeared to save correctly but nothing persisted after a page reload.</a:t>
            </a:r>
          </a:p>
        </p:txBody>
      </p:sp>
      <p:sp>
        <p:nvSpPr>
          <p:cNvPr id="12" name="Rectangle 11"/>
          <p:cNvSpPr/>
          <p:nvPr/>
        </p:nvSpPr>
        <p:spPr>
          <a:xfrm>
            <a:off x="411480" y="3145536"/>
            <a:ext cx="2148840" cy="301752"/>
          </a:xfrm>
          <a:prstGeom prst="rect">
            <a:avLst/>
          </a:prstGeom>
          <a:solidFill>
            <a:srgbClr val="111630"/>
          </a:solidFill>
          <a:ln w="15240">
            <a:solidFill>
              <a:srgbClr val="00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1480" y="3163824"/>
            <a:ext cx="2148840" cy="274320"/>
          </a:xfrm>
          <a:prstGeom prst="rect">
            <a:avLst/>
          </a:prstGeom>
          <a:noFill/>
        </p:spPr>
        <p:txBody>
          <a:bodyPr wrap="square">
            <a:spAutoFit/>
          </a:bodyPr>
          <a:lstStyle/>
          <a:p>
            <a:pPr algn="ctr"/>
            <a:r>
              <a:rPr sz="1000" b="1" i="0">
                <a:solidFill>
                  <a:srgbClr val="FFFFFF"/>
                </a:solidFill>
                <a:latin typeface="Calibri"/>
              </a:rPr>
              <a:t>SOLUTION</a:t>
            </a:r>
          </a:p>
        </p:txBody>
      </p:sp>
      <p:sp>
        <p:nvSpPr>
          <p:cNvPr id="14" name="Rectangle 13"/>
          <p:cNvSpPr/>
          <p:nvPr/>
        </p:nvSpPr>
        <p:spPr>
          <a:xfrm>
            <a:off x="411480" y="3511296"/>
            <a:ext cx="8321040" cy="1143000"/>
          </a:xfrm>
          <a:prstGeom prst="rect">
            <a:avLst/>
          </a:prstGeom>
          <a:solidFill>
            <a:srgbClr val="111630"/>
          </a:solidFill>
          <a:ln w="15240">
            <a:solidFill>
              <a:srgbClr val="00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1480" y="3511296"/>
            <a:ext cx="50292" cy="114300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611880"/>
            <a:ext cx="7955279" cy="960120"/>
          </a:xfrm>
          <a:prstGeom prst="rect">
            <a:avLst/>
          </a:prstGeom>
          <a:noFill/>
        </p:spPr>
        <p:txBody>
          <a:bodyPr wrap="square">
            <a:spAutoFit/>
          </a:bodyPr>
          <a:lstStyle/>
          <a:p>
            <a:pPr algn="l"/>
            <a:r>
              <a:rPr sz="1300" b="0" i="0">
                <a:solidFill>
                  <a:srgbClr val="B0B8CC"/>
                </a:solidFill>
                <a:latin typeface="Calibri"/>
              </a:rPr>
              <a:t>Traced the bug to sessionStorage being used in the state initialisation function. sessionStorage is wiped when the tab closes, unlike localStorage. Replacing that single API call fixed persistence across all pages and browser sessions with no further changes needed.</a:t>
            </a:r>
          </a:p>
        </p:txBody>
      </p:sp>
      <p:sp>
        <p:nvSpPr>
          <p:cNvPr id="17" name="TextBox 16"/>
          <p:cNvSpPr txBox="1"/>
          <p:nvPr/>
        </p:nvSpPr>
        <p:spPr>
          <a:xfrm>
            <a:off x="8046720" y="4754880"/>
            <a:ext cx="822960" cy="274320"/>
          </a:xfrm>
          <a:prstGeom prst="rect">
            <a:avLst/>
          </a:prstGeom>
          <a:noFill/>
        </p:spPr>
        <p:txBody>
          <a:bodyPr wrap="square">
            <a:spAutoFit/>
          </a:bodyPr>
          <a:lstStyle/>
          <a:p>
            <a:pPr algn="r"/>
            <a:r>
              <a:rPr sz="1000" b="0" i="0">
                <a:solidFill>
                  <a:srgbClr val="505878"/>
                </a:solidFill>
                <a:latin typeface="Calibri"/>
              </a:rPr>
              <a:t>4 / 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7091A"/>
        </a:solidFill>
        <a:effectLst/>
      </p:bgPr>
    </p:bg>
    <p:spTree>
      <p:nvGrpSpPr>
        <p:cNvPr id="1" name=""/>
        <p:cNvGrpSpPr/>
        <p:nvPr/>
      </p:nvGrpSpPr>
      <p:grpSpPr/>
      <p:sp>
        <p:nvSpPr>
          <p:cNvPr id="2" name="Rectangle 1"/>
          <p:cNvSpPr/>
          <p:nvPr/>
        </p:nvSpPr>
        <p:spPr>
          <a:xfrm>
            <a:off x="0" y="0"/>
            <a:ext cx="9144000" cy="45720"/>
          </a:xfrm>
          <a:prstGeom prst="rect">
            <a:avLst/>
          </a:prstGeom>
          <a:solidFill>
            <a:srgbClr val="00E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0" y="91440"/>
            <a:ext cx="4754880" cy="256032"/>
          </a:xfrm>
          <a:prstGeom prst="rect">
            <a:avLst/>
          </a:prstGeom>
          <a:noFill/>
        </p:spPr>
        <p:txBody>
          <a:bodyPr wrap="square">
            <a:spAutoFit/>
          </a:bodyPr>
          <a:lstStyle/>
          <a:p>
            <a:pPr algn="r"/>
            <a:r>
              <a:rPr sz="900" b="0" i="0">
                <a:solidFill>
                  <a:srgbClr val="505878"/>
                </a:solidFill>
                <a:latin typeface="Calibri"/>
              </a:rPr>
              <a:t>ShadowPhish  -  Coventry University  -  503IT</a:t>
            </a:r>
          </a:p>
        </p:txBody>
      </p:sp>
      <p:sp>
        <p:nvSpPr>
          <p:cNvPr id="4" name="Rectangle 3"/>
          <p:cNvSpPr/>
          <p:nvPr/>
        </p:nvSpPr>
        <p:spPr>
          <a:xfrm>
            <a:off x="411480" y="502920"/>
            <a:ext cx="59436" cy="640080"/>
          </a:xfrm>
          <a:prstGeom prst="rect">
            <a:avLst/>
          </a:prstGeom>
          <a:solidFill>
            <a:srgbClr val="00E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30352" y="475488"/>
            <a:ext cx="5486400" cy="384048"/>
          </a:xfrm>
          <a:prstGeom prst="rect">
            <a:avLst/>
          </a:prstGeom>
          <a:noFill/>
        </p:spPr>
        <p:txBody>
          <a:bodyPr wrap="square">
            <a:spAutoFit/>
          </a:bodyPr>
          <a:lstStyle/>
          <a:p>
            <a:pPr algn="l"/>
            <a:r>
              <a:rPr sz="2600" b="1" i="0">
                <a:solidFill>
                  <a:srgbClr val="FFFFFF"/>
                </a:solidFill>
                <a:latin typeface="Calibri"/>
              </a:rPr>
              <a:t>Allen Twins George</a:t>
            </a:r>
          </a:p>
        </p:txBody>
      </p:sp>
      <p:sp>
        <p:nvSpPr>
          <p:cNvPr id="6" name="TextBox 5"/>
          <p:cNvSpPr txBox="1"/>
          <p:nvPr/>
        </p:nvSpPr>
        <p:spPr>
          <a:xfrm>
            <a:off x="530352" y="859536"/>
            <a:ext cx="6400800" cy="274320"/>
          </a:xfrm>
          <a:prstGeom prst="rect">
            <a:avLst/>
          </a:prstGeom>
          <a:noFill/>
        </p:spPr>
        <p:txBody>
          <a:bodyPr wrap="square">
            <a:spAutoFit/>
          </a:bodyPr>
          <a:lstStyle/>
          <a:p>
            <a:pPr algn="l"/>
            <a:r>
              <a:rPr sz="1300" b="0" i="1">
                <a:solidFill>
                  <a:srgbClr val="00E676"/>
                </a:solidFill>
                <a:latin typeface="Calibri"/>
              </a:rPr>
              <a:t>UI/UX Designer  -  Accounts &amp; Sound Integration</a:t>
            </a:r>
          </a:p>
        </p:txBody>
      </p:sp>
      <p:sp>
        <p:nvSpPr>
          <p:cNvPr id="7" name="Rectangle 6"/>
          <p:cNvSpPr/>
          <p:nvPr/>
        </p:nvSpPr>
        <p:spPr>
          <a:xfrm>
            <a:off x="411480" y="1325880"/>
            <a:ext cx="2148840" cy="301752"/>
          </a:xfrm>
          <a:prstGeom prst="rect">
            <a:avLst/>
          </a:prstGeom>
          <a:solidFill>
            <a:srgbClr val="111630"/>
          </a:solidFill>
          <a:ln w="15240">
            <a:solidFill>
              <a:srgbClr val="00E6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1344168"/>
            <a:ext cx="2148840" cy="274320"/>
          </a:xfrm>
          <a:prstGeom prst="rect">
            <a:avLst/>
          </a:prstGeom>
          <a:noFill/>
        </p:spPr>
        <p:txBody>
          <a:bodyPr wrap="square">
            <a:spAutoFit/>
          </a:bodyPr>
          <a:lstStyle/>
          <a:p>
            <a:pPr algn="ctr"/>
            <a:r>
              <a:rPr sz="1000" b="1" i="0">
                <a:solidFill>
                  <a:srgbClr val="FFFFFF"/>
                </a:solidFill>
                <a:latin typeface="Calibri"/>
              </a:rPr>
              <a:t>KEY CONTRIBUTIONS</a:t>
            </a:r>
          </a:p>
        </p:txBody>
      </p:sp>
      <p:sp>
        <p:nvSpPr>
          <p:cNvPr id="9" name="Rectangle 8"/>
          <p:cNvSpPr/>
          <p:nvPr/>
        </p:nvSpPr>
        <p:spPr>
          <a:xfrm>
            <a:off x="411480" y="1691640"/>
            <a:ext cx="4069080" cy="2926080"/>
          </a:xfrm>
          <a:prstGeom prst="rect">
            <a:avLst/>
          </a:prstGeom>
          <a:solidFill>
            <a:srgbClr val="111630"/>
          </a:solidFill>
          <a:ln w="15240">
            <a:solidFill>
              <a:srgbClr val="00E6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1691640"/>
            <a:ext cx="50292" cy="2926080"/>
          </a:xfrm>
          <a:prstGeom prst="rect">
            <a:avLst/>
          </a:prstGeom>
          <a:solidFill>
            <a:srgbClr val="00E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6072" y="1801368"/>
            <a:ext cx="3813048" cy="2724912"/>
          </a:xfrm>
          <a:prstGeom prst="rect">
            <a:avLst/>
          </a:prstGeom>
          <a:noFill/>
        </p:spPr>
        <p:txBody>
          <a:bodyPr wrap="square">
            <a:spAutoFit/>
          </a:bodyPr>
          <a:lstStyle/>
          <a:p>
            <a:pPr marL="109728" indent="-109728"/>
            <a:r>
              <a:rPr sz="1200">
                <a:solidFill>
                  <a:srgbClr val="B0B8CC"/>
                </a:solidFill>
                <a:latin typeface="Calibri"/>
              </a:rPr>
              <a:t>&gt;  Built the Account System - login, registration and guest access flow</a:t>
            </a:r>
          </a:p>
          <a:p>
            <a:pPr marL="109728" indent="-109728" spcBef="2540000"/>
            <a:r>
              <a:rPr sz="1200">
                <a:solidFill>
                  <a:srgbClr val="B0B8CC"/>
                </a:solidFill>
                <a:latin typeface="Calibri"/>
              </a:rPr>
              <a:t>&gt;  Co-designed Database Structure with Prathish for player data model</a:t>
            </a:r>
          </a:p>
          <a:p>
            <a:pPr marL="109728" indent="-109728" spcBef="2540000"/>
            <a:r>
              <a:rPr sz="1200">
                <a:solidFill>
                  <a:srgbClr val="B0B8CC"/>
                </a:solidFill>
                <a:latin typeface="Calibri"/>
              </a:rPr>
              <a:t>&gt;  Working on Sound Integration to add audio feedback to gameplay</a:t>
            </a:r>
          </a:p>
          <a:p>
            <a:pPr marL="109728" indent="-109728" spcBef="2540000"/>
            <a:r>
              <a:rPr sz="1200">
                <a:solidFill>
                  <a:srgbClr val="B0B8CC"/>
                </a:solidFill>
                <a:latin typeface="Calibri"/>
              </a:rPr>
              <a:t>&gt;  Co-developed Daily Challenge System with Prateek</a:t>
            </a:r>
          </a:p>
          <a:p>
            <a:pPr marL="109728" indent="-109728" spcBef="2540000"/>
            <a:r>
              <a:rPr sz="1200">
                <a:solidFill>
                  <a:srgbClr val="B0B8CC"/>
                </a:solidFill>
                <a:latin typeface="Calibri"/>
              </a:rPr>
              <a:t>&gt;  Created UI wireframes and defined the game's visual identity</a:t>
            </a:r>
          </a:p>
        </p:txBody>
      </p:sp>
      <p:sp>
        <p:nvSpPr>
          <p:cNvPr id="12" name="Rectangle 11"/>
          <p:cNvSpPr/>
          <p:nvPr/>
        </p:nvSpPr>
        <p:spPr>
          <a:xfrm>
            <a:off x="4800600" y="1325880"/>
            <a:ext cx="2148840" cy="301752"/>
          </a:xfrm>
          <a:prstGeom prst="rect">
            <a:avLst/>
          </a:prstGeom>
          <a:solidFill>
            <a:srgbClr val="111630"/>
          </a:solidFill>
          <a:ln w="15240">
            <a:solidFill>
              <a:srgbClr val="00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1344168"/>
            <a:ext cx="2148840" cy="274320"/>
          </a:xfrm>
          <a:prstGeom prst="rect">
            <a:avLst/>
          </a:prstGeom>
          <a:noFill/>
        </p:spPr>
        <p:txBody>
          <a:bodyPr wrap="square">
            <a:spAutoFit/>
          </a:bodyPr>
          <a:lstStyle/>
          <a:p>
            <a:pPr algn="ctr"/>
            <a:r>
              <a:rPr sz="1000" b="1" i="0">
                <a:solidFill>
                  <a:srgbClr val="FFFFFF"/>
                </a:solidFill>
                <a:latin typeface="Calibri"/>
              </a:rPr>
              <a:t>PLANNER TASKS</a:t>
            </a:r>
          </a:p>
        </p:txBody>
      </p:sp>
      <p:sp>
        <p:nvSpPr>
          <p:cNvPr id="14" name="Rectangle 13"/>
          <p:cNvSpPr/>
          <p:nvPr/>
        </p:nvSpPr>
        <p:spPr>
          <a:xfrm>
            <a:off x="4800600" y="1691640"/>
            <a:ext cx="3931920" cy="2926080"/>
          </a:xfrm>
          <a:prstGeom prst="rect">
            <a:avLst/>
          </a:prstGeom>
          <a:solidFill>
            <a:srgbClr val="111630"/>
          </a:solidFill>
          <a:ln w="15240">
            <a:solidFill>
              <a:srgbClr val="00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800600" y="1691640"/>
            <a:ext cx="50292" cy="292608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965192" y="1801368"/>
            <a:ext cx="3675888" cy="2724912"/>
          </a:xfrm>
          <a:prstGeom prst="rect">
            <a:avLst/>
          </a:prstGeom>
          <a:noFill/>
        </p:spPr>
        <p:txBody>
          <a:bodyPr wrap="square">
            <a:spAutoFit/>
          </a:bodyPr>
          <a:lstStyle/>
          <a:p>
            <a:pPr marL="109728" indent="-109728"/>
            <a:r>
              <a:rPr sz="1200">
                <a:solidFill>
                  <a:srgbClr val="B0B8CC"/>
                </a:solidFill>
                <a:latin typeface="Calibri"/>
              </a:rPr>
              <a:t>&gt;  Account System  [done]</a:t>
            </a:r>
          </a:p>
          <a:p>
            <a:pPr marL="109728" indent="-109728" spcBef="2540000"/>
            <a:r>
              <a:rPr sz="1200">
                <a:solidFill>
                  <a:srgbClr val="B0B8CC"/>
                </a:solidFill>
                <a:latin typeface="Calibri"/>
              </a:rPr>
              <a:t>&gt;  Database Structure Design  [done]</a:t>
            </a:r>
          </a:p>
          <a:p>
            <a:pPr marL="109728" indent="-109728" spcBef="2540000"/>
            <a:r>
              <a:rPr sz="1200">
                <a:solidFill>
                  <a:srgbClr val="B0B8CC"/>
                </a:solidFill>
                <a:latin typeface="Calibri"/>
              </a:rPr>
              <a:t>&gt;  Sound Integration  [doing - In progress]</a:t>
            </a:r>
          </a:p>
          <a:p>
            <a:pPr marL="109728" indent="-109728" spcBef="2540000"/>
            <a:r>
              <a:rPr sz="1200">
                <a:solidFill>
                  <a:srgbClr val="B0B8CC"/>
                </a:solidFill>
                <a:latin typeface="Calibri"/>
              </a:rPr>
              <a:t>&gt;  Daily Challenge System  [done]</a:t>
            </a:r>
          </a:p>
        </p:txBody>
      </p:sp>
      <p:sp>
        <p:nvSpPr>
          <p:cNvPr id="17" name="TextBox 16"/>
          <p:cNvSpPr txBox="1"/>
          <p:nvPr/>
        </p:nvSpPr>
        <p:spPr>
          <a:xfrm>
            <a:off x="8046720" y="4754880"/>
            <a:ext cx="822960" cy="274320"/>
          </a:xfrm>
          <a:prstGeom prst="rect">
            <a:avLst/>
          </a:prstGeom>
          <a:noFill/>
        </p:spPr>
        <p:txBody>
          <a:bodyPr wrap="square">
            <a:spAutoFit/>
          </a:bodyPr>
          <a:lstStyle/>
          <a:p>
            <a:pPr algn="r"/>
            <a:r>
              <a:rPr sz="1000" b="0" i="0">
                <a:solidFill>
                  <a:srgbClr val="505878"/>
                </a:solidFill>
                <a:latin typeface="Calibri"/>
              </a:rPr>
              <a:t>5 / 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7091A"/>
        </a:solidFill>
        <a:effectLst/>
      </p:bgPr>
    </p:bg>
    <p:spTree>
      <p:nvGrpSpPr>
        <p:cNvPr id="1" name=""/>
        <p:cNvGrpSpPr/>
        <p:nvPr/>
      </p:nvGrpSpPr>
      <p:grpSpPr/>
      <p:sp>
        <p:nvSpPr>
          <p:cNvPr id="2" name="Rectangle 1"/>
          <p:cNvSpPr/>
          <p:nvPr/>
        </p:nvSpPr>
        <p:spPr>
          <a:xfrm>
            <a:off x="0" y="0"/>
            <a:ext cx="9144000" cy="45720"/>
          </a:xfrm>
          <a:prstGeom prst="rect">
            <a:avLst/>
          </a:prstGeom>
          <a:solidFill>
            <a:srgbClr val="00E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0" y="91440"/>
            <a:ext cx="4754880" cy="256032"/>
          </a:xfrm>
          <a:prstGeom prst="rect">
            <a:avLst/>
          </a:prstGeom>
          <a:noFill/>
        </p:spPr>
        <p:txBody>
          <a:bodyPr wrap="square">
            <a:spAutoFit/>
          </a:bodyPr>
          <a:lstStyle/>
          <a:p>
            <a:pPr algn="r"/>
            <a:r>
              <a:rPr sz="900" b="0" i="0">
                <a:solidFill>
                  <a:srgbClr val="505878"/>
                </a:solidFill>
                <a:latin typeface="Calibri"/>
              </a:rPr>
              <a:t>ShadowPhish  -  Coventry University  -  503IT</a:t>
            </a:r>
          </a:p>
        </p:txBody>
      </p:sp>
      <p:sp>
        <p:nvSpPr>
          <p:cNvPr id="4" name="Rectangle 3"/>
          <p:cNvSpPr/>
          <p:nvPr/>
        </p:nvSpPr>
        <p:spPr>
          <a:xfrm>
            <a:off x="411480" y="502920"/>
            <a:ext cx="59436" cy="640080"/>
          </a:xfrm>
          <a:prstGeom prst="rect">
            <a:avLst/>
          </a:prstGeom>
          <a:solidFill>
            <a:srgbClr val="00E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30352" y="475488"/>
            <a:ext cx="5486400" cy="384048"/>
          </a:xfrm>
          <a:prstGeom prst="rect">
            <a:avLst/>
          </a:prstGeom>
          <a:noFill/>
        </p:spPr>
        <p:txBody>
          <a:bodyPr wrap="square">
            <a:spAutoFit/>
          </a:bodyPr>
          <a:lstStyle/>
          <a:p>
            <a:pPr algn="l"/>
            <a:r>
              <a:rPr sz="2600" b="1" i="0">
                <a:solidFill>
                  <a:srgbClr val="FFFFFF"/>
                </a:solidFill>
                <a:latin typeface="Calibri"/>
              </a:rPr>
              <a:t>Allen Twins George</a:t>
            </a:r>
          </a:p>
        </p:txBody>
      </p:sp>
      <p:sp>
        <p:nvSpPr>
          <p:cNvPr id="6" name="TextBox 5"/>
          <p:cNvSpPr txBox="1"/>
          <p:nvPr/>
        </p:nvSpPr>
        <p:spPr>
          <a:xfrm>
            <a:off x="530352" y="859536"/>
            <a:ext cx="6400800" cy="274320"/>
          </a:xfrm>
          <a:prstGeom prst="rect">
            <a:avLst/>
          </a:prstGeom>
          <a:noFill/>
        </p:spPr>
        <p:txBody>
          <a:bodyPr wrap="square">
            <a:spAutoFit/>
          </a:bodyPr>
          <a:lstStyle/>
          <a:p>
            <a:pPr algn="l"/>
            <a:r>
              <a:rPr sz="1300" b="0" i="1">
                <a:solidFill>
                  <a:srgbClr val="00E676"/>
                </a:solidFill>
                <a:latin typeface="Calibri"/>
              </a:rPr>
              <a:t>Challenge  &amp;  Solution</a:t>
            </a:r>
          </a:p>
        </p:txBody>
      </p:sp>
      <p:sp>
        <p:nvSpPr>
          <p:cNvPr id="7" name="Rectangle 6"/>
          <p:cNvSpPr/>
          <p:nvPr/>
        </p:nvSpPr>
        <p:spPr>
          <a:xfrm>
            <a:off x="411480" y="1325880"/>
            <a:ext cx="2148840" cy="301752"/>
          </a:xfrm>
          <a:prstGeom prst="rect">
            <a:avLst/>
          </a:prstGeom>
          <a:solidFill>
            <a:srgbClr val="111630"/>
          </a:solidFill>
          <a:ln w="15240">
            <a:solidFill>
              <a:srgbClr val="FF5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1344168"/>
            <a:ext cx="2148840" cy="274320"/>
          </a:xfrm>
          <a:prstGeom prst="rect">
            <a:avLst/>
          </a:prstGeom>
          <a:noFill/>
        </p:spPr>
        <p:txBody>
          <a:bodyPr wrap="square">
            <a:spAutoFit/>
          </a:bodyPr>
          <a:lstStyle/>
          <a:p>
            <a:pPr algn="ctr"/>
            <a:r>
              <a:rPr sz="1000" b="1" i="0">
                <a:solidFill>
                  <a:srgbClr val="FFFFFF"/>
                </a:solidFill>
                <a:latin typeface="Calibri"/>
              </a:rPr>
              <a:t>CHALLENGE</a:t>
            </a:r>
          </a:p>
        </p:txBody>
      </p:sp>
      <p:sp>
        <p:nvSpPr>
          <p:cNvPr id="9" name="Rectangle 8"/>
          <p:cNvSpPr/>
          <p:nvPr/>
        </p:nvSpPr>
        <p:spPr>
          <a:xfrm>
            <a:off x="411480" y="1691640"/>
            <a:ext cx="8321040" cy="1316736"/>
          </a:xfrm>
          <a:prstGeom prst="rect">
            <a:avLst/>
          </a:prstGeom>
          <a:solidFill>
            <a:srgbClr val="1A0A0A"/>
          </a:solidFill>
          <a:ln w="15240">
            <a:solidFill>
              <a:srgbClr val="FF5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1691640"/>
            <a:ext cx="50292" cy="1316736"/>
          </a:xfrm>
          <a:prstGeom prst="rect">
            <a:avLst/>
          </a:prstGeom>
          <a:solidFill>
            <a:srgbClr val="FF5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1792224"/>
            <a:ext cx="7955279" cy="1115568"/>
          </a:xfrm>
          <a:prstGeom prst="rect">
            <a:avLst/>
          </a:prstGeom>
          <a:noFill/>
        </p:spPr>
        <p:txBody>
          <a:bodyPr wrap="square">
            <a:spAutoFit/>
          </a:bodyPr>
          <a:lstStyle/>
          <a:p>
            <a:pPr algn="l"/>
            <a:r>
              <a:rPr sz="1300" b="0" i="0">
                <a:solidFill>
                  <a:srgbClr val="FFB0B0"/>
                </a:solidFill>
                <a:latin typeface="Calibri"/>
              </a:rPr>
              <a:t>Road obstacles in Highway Chase appeared suddenly in the middle of the screen, looking like a glitch and giving players zero reaction time - the game felt completely unfair.</a:t>
            </a:r>
          </a:p>
        </p:txBody>
      </p:sp>
      <p:sp>
        <p:nvSpPr>
          <p:cNvPr id="12" name="Rectangle 11"/>
          <p:cNvSpPr/>
          <p:nvPr/>
        </p:nvSpPr>
        <p:spPr>
          <a:xfrm>
            <a:off x="411480" y="3145536"/>
            <a:ext cx="2148840" cy="301752"/>
          </a:xfrm>
          <a:prstGeom prst="rect">
            <a:avLst/>
          </a:prstGeom>
          <a:solidFill>
            <a:srgbClr val="111630"/>
          </a:solidFill>
          <a:ln w="15240">
            <a:solidFill>
              <a:srgbClr val="00E6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1480" y="3163824"/>
            <a:ext cx="2148840" cy="274320"/>
          </a:xfrm>
          <a:prstGeom prst="rect">
            <a:avLst/>
          </a:prstGeom>
          <a:noFill/>
        </p:spPr>
        <p:txBody>
          <a:bodyPr wrap="square">
            <a:spAutoFit/>
          </a:bodyPr>
          <a:lstStyle/>
          <a:p>
            <a:pPr algn="ctr"/>
            <a:r>
              <a:rPr sz="1000" b="1" i="0">
                <a:solidFill>
                  <a:srgbClr val="FFFFFF"/>
                </a:solidFill>
                <a:latin typeface="Calibri"/>
              </a:rPr>
              <a:t>SOLUTION</a:t>
            </a:r>
          </a:p>
        </p:txBody>
      </p:sp>
      <p:sp>
        <p:nvSpPr>
          <p:cNvPr id="14" name="Rectangle 13"/>
          <p:cNvSpPr/>
          <p:nvPr/>
        </p:nvSpPr>
        <p:spPr>
          <a:xfrm>
            <a:off x="411480" y="3511296"/>
            <a:ext cx="8321040" cy="1143000"/>
          </a:xfrm>
          <a:prstGeom prst="rect">
            <a:avLst/>
          </a:prstGeom>
          <a:solidFill>
            <a:srgbClr val="111630"/>
          </a:solidFill>
          <a:ln w="15240">
            <a:solidFill>
              <a:srgbClr val="00E6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1480" y="3511296"/>
            <a:ext cx="50292" cy="1143000"/>
          </a:xfrm>
          <a:prstGeom prst="rect">
            <a:avLst/>
          </a:prstGeom>
          <a:solidFill>
            <a:srgbClr val="00E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611880"/>
            <a:ext cx="7955279" cy="960120"/>
          </a:xfrm>
          <a:prstGeom prst="rect">
            <a:avLst/>
          </a:prstGeom>
          <a:noFill/>
        </p:spPr>
        <p:txBody>
          <a:bodyPr wrap="square">
            <a:spAutoFit/>
          </a:bodyPr>
          <a:lstStyle/>
          <a:p>
            <a:pPr algn="l"/>
            <a:r>
              <a:rPr sz="1300" b="0" i="0">
                <a:solidFill>
                  <a:srgbClr val="B0B8CC"/>
                </a:solidFill>
                <a:latin typeface="Calibri"/>
              </a:rPr>
              <a:t>Changed the obstacle spawn Y coordinate from H x 0.38 - 80 (mid-canvas) to -90 (above the canvas edge). Objects now enter from off-screen and scroll naturally into view, giving players a clear approach window. A single number change transformed the fairness and feel of the game.</a:t>
            </a:r>
          </a:p>
        </p:txBody>
      </p:sp>
      <p:sp>
        <p:nvSpPr>
          <p:cNvPr id="17" name="TextBox 16"/>
          <p:cNvSpPr txBox="1"/>
          <p:nvPr/>
        </p:nvSpPr>
        <p:spPr>
          <a:xfrm>
            <a:off x="8046720" y="4754880"/>
            <a:ext cx="822960" cy="274320"/>
          </a:xfrm>
          <a:prstGeom prst="rect">
            <a:avLst/>
          </a:prstGeom>
          <a:noFill/>
        </p:spPr>
        <p:txBody>
          <a:bodyPr wrap="square">
            <a:spAutoFit/>
          </a:bodyPr>
          <a:lstStyle/>
          <a:p>
            <a:pPr algn="r"/>
            <a:r>
              <a:rPr sz="1000" b="0" i="0">
                <a:solidFill>
                  <a:srgbClr val="505878"/>
                </a:solidFill>
                <a:latin typeface="Calibri"/>
              </a:rPr>
              <a:t>6 / 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7091A"/>
        </a:solidFill>
        <a:effectLst/>
      </p:bgPr>
    </p:bg>
    <p:spTree>
      <p:nvGrpSpPr>
        <p:cNvPr id="1" name=""/>
        <p:cNvGrpSpPr/>
        <p:nvPr/>
      </p:nvGrpSpPr>
      <p:grpSpPr/>
      <p:sp>
        <p:nvSpPr>
          <p:cNvPr id="2" name="Rectangle 1"/>
          <p:cNvSpPr/>
          <p:nvPr/>
        </p:nvSpPr>
        <p:spPr>
          <a:xfrm>
            <a:off x="0" y="0"/>
            <a:ext cx="9144000" cy="45720"/>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0" y="91440"/>
            <a:ext cx="4754880" cy="256032"/>
          </a:xfrm>
          <a:prstGeom prst="rect">
            <a:avLst/>
          </a:prstGeom>
          <a:noFill/>
        </p:spPr>
        <p:txBody>
          <a:bodyPr wrap="square">
            <a:spAutoFit/>
          </a:bodyPr>
          <a:lstStyle/>
          <a:p>
            <a:pPr algn="r"/>
            <a:r>
              <a:rPr sz="900" b="0" i="0">
                <a:solidFill>
                  <a:srgbClr val="505878"/>
                </a:solidFill>
                <a:latin typeface="Calibri"/>
              </a:rPr>
              <a:t>ShadowPhish  -  Coventry University  -  503IT</a:t>
            </a:r>
          </a:p>
        </p:txBody>
      </p:sp>
      <p:sp>
        <p:nvSpPr>
          <p:cNvPr id="4" name="Rectangle 3"/>
          <p:cNvSpPr/>
          <p:nvPr/>
        </p:nvSpPr>
        <p:spPr>
          <a:xfrm>
            <a:off x="411480" y="502920"/>
            <a:ext cx="59436" cy="640080"/>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30352" y="475488"/>
            <a:ext cx="5486400" cy="384048"/>
          </a:xfrm>
          <a:prstGeom prst="rect">
            <a:avLst/>
          </a:prstGeom>
          <a:noFill/>
        </p:spPr>
        <p:txBody>
          <a:bodyPr wrap="square">
            <a:spAutoFit/>
          </a:bodyPr>
          <a:lstStyle/>
          <a:p>
            <a:pPr algn="l"/>
            <a:r>
              <a:rPr sz="2600" b="1" i="0">
                <a:solidFill>
                  <a:srgbClr val="FFFFFF"/>
                </a:solidFill>
                <a:latin typeface="Calibri"/>
              </a:rPr>
              <a:t>Bishal Raut</a:t>
            </a:r>
          </a:p>
        </p:txBody>
      </p:sp>
      <p:sp>
        <p:nvSpPr>
          <p:cNvPr id="6" name="TextBox 5"/>
          <p:cNvSpPr txBox="1"/>
          <p:nvPr/>
        </p:nvSpPr>
        <p:spPr>
          <a:xfrm>
            <a:off x="530352" y="859536"/>
            <a:ext cx="6400800" cy="274320"/>
          </a:xfrm>
          <a:prstGeom prst="rect">
            <a:avLst/>
          </a:prstGeom>
          <a:noFill/>
        </p:spPr>
        <p:txBody>
          <a:bodyPr wrap="square">
            <a:spAutoFit/>
          </a:bodyPr>
          <a:lstStyle/>
          <a:p>
            <a:pPr algn="l"/>
            <a:r>
              <a:rPr sz="1300" b="0" i="1">
                <a:solidFill>
                  <a:srgbClr val="FFB300"/>
                </a:solidFill>
                <a:latin typeface="Calibri"/>
              </a:rPr>
              <a:t>Game Logic  -  Economy, Hints &amp; Database</a:t>
            </a:r>
          </a:p>
        </p:txBody>
      </p:sp>
      <p:sp>
        <p:nvSpPr>
          <p:cNvPr id="7" name="Rectangle 6"/>
          <p:cNvSpPr/>
          <p:nvPr/>
        </p:nvSpPr>
        <p:spPr>
          <a:xfrm>
            <a:off x="411480" y="1325880"/>
            <a:ext cx="2148840" cy="301752"/>
          </a:xfrm>
          <a:prstGeom prst="rect">
            <a:avLst/>
          </a:prstGeom>
          <a:solidFill>
            <a:srgbClr val="111630"/>
          </a:solidFill>
          <a:ln w="15240">
            <a:solidFill>
              <a:srgbClr val="FFB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1344168"/>
            <a:ext cx="2148840" cy="274320"/>
          </a:xfrm>
          <a:prstGeom prst="rect">
            <a:avLst/>
          </a:prstGeom>
          <a:noFill/>
        </p:spPr>
        <p:txBody>
          <a:bodyPr wrap="square">
            <a:spAutoFit/>
          </a:bodyPr>
          <a:lstStyle/>
          <a:p>
            <a:pPr algn="ctr"/>
            <a:r>
              <a:rPr sz="1000" b="1" i="0">
                <a:solidFill>
                  <a:srgbClr val="FFFFFF"/>
                </a:solidFill>
                <a:latin typeface="Calibri"/>
              </a:rPr>
              <a:t>KEY CONTRIBUTIONS</a:t>
            </a:r>
          </a:p>
        </p:txBody>
      </p:sp>
      <p:sp>
        <p:nvSpPr>
          <p:cNvPr id="9" name="Rectangle 8"/>
          <p:cNvSpPr/>
          <p:nvPr/>
        </p:nvSpPr>
        <p:spPr>
          <a:xfrm>
            <a:off x="411480" y="1691640"/>
            <a:ext cx="4069080" cy="2926080"/>
          </a:xfrm>
          <a:prstGeom prst="rect">
            <a:avLst/>
          </a:prstGeom>
          <a:solidFill>
            <a:srgbClr val="111630"/>
          </a:solidFill>
          <a:ln w="15240">
            <a:solidFill>
              <a:srgbClr val="FFB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1691640"/>
            <a:ext cx="50292" cy="2926080"/>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6072" y="1801368"/>
            <a:ext cx="3813048" cy="2724912"/>
          </a:xfrm>
          <a:prstGeom prst="rect">
            <a:avLst/>
          </a:prstGeom>
          <a:noFill/>
        </p:spPr>
        <p:txBody>
          <a:bodyPr wrap="square">
            <a:spAutoFit/>
          </a:bodyPr>
          <a:lstStyle/>
          <a:p>
            <a:pPr marL="109728" indent="-109728"/>
            <a:r>
              <a:rPr sz="1200">
                <a:solidFill>
                  <a:srgbClr val="B0B8CC"/>
                </a:solidFill>
                <a:latin typeface="Calibri"/>
              </a:rPr>
              <a:t>&gt;  Implemented Hint System - hints cost coins and reveal partial answers</a:t>
            </a:r>
          </a:p>
          <a:p>
            <a:pPr marL="109728" indent="-109728" spcBef="2540000"/>
            <a:r>
              <a:rPr sz="1200">
                <a:solidFill>
                  <a:srgbClr val="B0B8CC"/>
                </a:solidFill>
                <a:latin typeface="Calibri"/>
              </a:rPr>
              <a:t>&gt;  Balanced Coin &amp; Heart Economy across all game modes</a:t>
            </a:r>
          </a:p>
          <a:p>
            <a:pPr marL="109728" indent="-109728" spcBef="2540000"/>
            <a:r>
              <a:rPr sz="1200">
                <a:solidFill>
                  <a:srgbClr val="B0B8CC"/>
                </a:solidFill>
                <a:latin typeface="Calibri"/>
              </a:rPr>
              <a:t>&gt;  Building Database Player Progress tracker (currently in progress)</a:t>
            </a:r>
          </a:p>
          <a:p>
            <a:pPr marL="109728" indent="-109728" spcBef="2540000"/>
            <a:r>
              <a:rPr sz="1200">
                <a:solidFill>
                  <a:srgbClr val="B0B8CC"/>
                </a:solidFill>
                <a:latin typeface="Calibri"/>
              </a:rPr>
              <a:t>&gt;  Co-built Core Game Logic with Avtar powering the main gameplay loop</a:t>
            </a:r>
          </a:p>
          <a:p>
            <a:pPr marL="109728" indent="-109728" spcBef="2540000"/>
            <a:r>
              <a:rPr sz="1200">
                <a:solidFill>
                  <a:srgbClr val="B0B8CC"/>
                </a:solidFill>
                <a:latin typeface="Calibri"/>
              </a:rPr>
              <a:t>&gt;  Participated in full-game QA Testing pass with the whole team</a:t>
            </a:r>
          </a:p>
        </p:txBody>
      </p:sp>
      <p:sp>
        <p:nvSpPr>
          <p:cNvPr id="12" name="Rectangle 11"/>
          <p:cNvSpPr/>
          <p:nvPr/>
        </p:nvSpPr>
        <p:spPr>
          <a:xfrm>
            <a:off x="4800600" y="1325880"/>
            <a:ext cx="2148840" cy="301752"/>
          </a:xfrm>
          <a:prstGeom prst="rect">
            <a:avLst/>
          </a:prstGeom>
          <a:solidFill>
            <a:srgbClr val="111630"/>
          </a:solidFill>
          <a:ln w="15240">
            <a:solidFill>
              <a:srgbClr val="00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1344168"/>
            <a:ext cx="2148840" cy="274320"/>
          </a:xfrm>
          <a:prstGeom prst="rect">
            <a:avLst/>
          </a:prstGeom>
          <a:noFill/>
        </p:spPr>
        <p:txBody>
          <a:bodyPr wrap="square">
            <a:spAutoFit/>
          </a:bodyPr>
          <a:lstStyle/>
          <a:p>
            <a:pPr algn="ctr"/>
            <a:r>
              <a:rPr sz="1000" b="1" i="0">
                <a:solidFill>
                  <a:srgbClr val="FFFFFF"/>
                </a:solidFill>
                <a:latin typeface="Calibri"/>
              </a:rPr>
              <a:t>PLANNER TASKS</a:t>
            </a:r>
          </a:p>
        </p:txBody>
      </p:sp>
      <p:sp>
        <p:nvSpPr>
          <p:cNvPr id="14" name="Rectangle 13"/>
          <p:cNvSpPr/>
          <p:nvPr/>
        </p:nvSpPr>
        <p:spPr>
          <a:xfrm>
            <a:off x="4800600" y="1691640"/>
            <a:ext cx="3931920" cy="2926080"/>
          </a:xfrm>
          <a:prstGeom prst="rect">
            <a:avLst/>
          </a:prstGeom>
          <a:solidFill>
            <a:srgbClr val="111630"/>
          </a:solidFill>
          <a:ln w="15240">
            <a:solidFill>
              <a:srgbClr val="00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800600" y="1691640"/>
            <a:ext cx="50292" cy="292608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965192" y="1801368"/>
            <a:ext cx="3675888" cy="2724912"/>
          </a:xfrm>
          <a:prstGeom prst="rect">
            <a:avLst/>
          </a:prstGeom>
          <a:noFill/>
        </p:spPr>
        <p:txBody>
          <a:bodyPr wrap="square">
            <a:spAutoFit/>
          </a:bodyPr>
          <a:lstStyle/>
          <a:p>
            <a:pPr marL="109728" indent="-109728"/>
            <a:r>
              <a:rPr sz="1200">
                <a:solidFill>
                  <a:srgbClr val="B0B8CC"/>
                </a:solidFill>
                <a:latin typeface="Calibri"/>
              </a:rPr>
              <a:t>&gt;  Hint System  [done]</a:t>
            </a:r>
          </a:p>
          <a:p>
            <a:pPr marL="109728" indent="-109728" spcBef="2540000"/>
            <a:r>
              <a:rPr sz="1200">
                <a:solidFill>
                  <a:srgbClr val="B0B8CC"/>
                </a:solidFill>
                <a:latin typeface="Calibri"/>
              </a:rPr>
              <a:t>&gt;  Coin &amp; Heart Economy Balancing  [done]</a:t>
            </a:r>
          </a:p>
          <a:p>
            <a:pPr marL="109728" indent="-109728" spcBef="2540000"/>
            <a:r>
              <a:rPr sz="1200">
                <a:solidFill>
                  <a:srgbClr val="B0B8CC"/>
                </a:solidFill>
                <a:latin typeface="Calibri"/>
              </a:rPr>
              <a:t>&gt;  Database Player Progress  [doing - In progress]</a:t>
            </a:r>
          </a:p>
          <a:p>
            <a:pPr marL="109728" indent="-109728" spcBef="2540000"/>
            <a:r>
              <a:rPr sz="1200">
                <a:solidFill>
                  <a:srgbClr val="B0B8CC"/>
                </a:solidFill>
                <a:latin typeface="Calibri"/>
              </a:rPr>
              <a:t>&gt;  Core Game Logic  [done]</a:t>
            </a:r>
          </a:p>
          <a:p>
            <a:pPr marL="109728" indent="-109728" spcBef="2540000"/>
            <a:r>
              <a:rPr sz="1200">
                <a:solidFill>
                  <a:srgbClr val="B0B8CC"/>
                </a:solidFill>
                <a:latin typeface="Calibri"/>
              </a:rPr>
              <a:t>&gt;  QA Testing - full game  [done]</a:t>
            </a:r>
          </a:p>
        </p:txBody>
      </p:sp>
      <p:sp>
        <p:nvSpPr>
          <p:cNvPr id="17" name="TextBox 16"/>
          <p:cNvSpPr txBox="1"/>
          <p:nvPr/>
        </p:nvSpPr>
        <p:spPr>
          <a:xfrm>
            <a:off x="8046720" y="4754880"/>
            <a:ext cx="822960" cy="274320"/>
          </a:xfrm>
          <a:prstGeom prst="rect">
            <a:avLst/>
          </a:prstGeom>
          <a:noFill/>
        </p:spPr>
        <p:txBody>
          <a:bodyPr wrap="square">
            <a:spAutoFit/>
          </a:bodyPr>
          <a:lstStyle/>
          <a:p>
            <a:pPr algn="r"/>
            <a:r>
              <a:rPr sz="1000" b="0" i="0">
                <a:solidFill>
                  <a:srgbClr val="505878"/>
                </a:solidFill>
                <a:latin typeface="Calibri"/>
              </a:rPr>
              <a:t>7 / 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7091A"/>
        </a:solidFill>
        <a:effectLst/>
      </p:bgPr>
    </p:bg>
    <p:spTree>
      <p:nvGrpSpPr>
        <p:cNvPr id="1" name=""/>
        <p:cNvGrpSpPr/>
        <p:nvPr/>
      </p:nvGrpSpPr>
      <p:grpSpPr/>
      <p:sp>
        <p:nvSpPr>
          <p:cNvPr id="2" name="Rectangle 1"/>
          <p:cNvSpPr/>
          <p:nvPr/>
        </p:nvSpPr>
        <p:spPr>
          <a:xfrm>
            <a:off x="0" y="0"/>
            <a:ext cx="9144000" cy="45720"/>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0" y="91440"/>
            <a:ext cx="4754880" cy="256032"/>
          </a:xfrm>
          <a:prstGeom prst="rect">
            <a:avLst/>
          </a:prstGeom>
          <a:noFill/>
        </p:spPr>
        <p:txBody>
          <a:bodyPr wrap="square">
            <a:spAutoFit/>
          </a:bodyPr>
          <a:lstStyle/>
          <a:p>
            <a:pPr algn="r"/>
            <a:r>
              <a:rPr sz="900" b="0" i="0">
                <a:solidFill>
                  <a:srgbClr val="505878"/>
                </a:solidFill>
                <a:latin typeface="Calibri"/>
              </a:rPr>
              <a:t>ShadowPhish  -  Coventry University  -  503IT</a:t>
            </a:r>
          </a:p>
        </p:txBody>
      </p:sp>
      <p:sp>
        <p:nvSpPr>
          <p:cNvPr id="4" name="Rectangle 3"/>
          <p:cNvSpPr/>
          <p:nvPr/>
        </p:nvSpPr>
        <p:spPr>
          <a:xfrm>
            <a:off x="411480" y="502920"/>
            <a:ext cx="59436" cy="640080"/>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30352" y="475488"/>
            <a:ext cx="5486400" cy="384048"/>
          </a:xfrm>
          <a:prstGeom prst="rect">
            <a:avLst/>
          </a:prstGeom>
          <a:noFill/>
        </p:spPr>
        <p:txBody>
          <a:bodyPr wrap="square">
            <a:spAutoFit/>
          </a:bodyPr>
          <a:lstStyle/>
          <a:p>
            <a:pPr algn="l"/>
            <a:r>
              <a:rPr sz="2600" b="1" i="0">
                <a:solidFill>
                  <a:srgbClr val="FFFFFF"/>
                </a:solidFill>
                <a:latin typeface="Calibri"/>
              </a:rPr>
              <a:t>Bishal Raut</a:t>
            </a:r>
          </a:p>
        </p:txBody>
      </p:sp>
      <p:sp>
        <p:nvSpPr>
          <p:cNvPr id="6" name="TextBox 5"/>
          <p:cNvSpPr txBox="1"/>
          <p:nvPr/>
        </p:nvSpPr>
        <p:spPr>
          <a:xfrm>
            <a:off x="530352" y="859536"/>
            <a:ext cx="6400800" cy="274320"/>
          </a:xfrm>
          <a:prstGeom prst="rect">
            <a:avLst/>
          </a:prstGeom>
          <a:noFill/>
        </p:spPr>
        <p:txBody>
          <a:bodyPr wrap="square">
            <a:spAutoFit/>
          </a:bodyPr>
          <a:lstStyle/>
          <a:p>
            <a:pPr algn="l"/>
            <a:r>
              <a:rPr sz="1300" b="0" i="1">
                <a:solidFill>
                  <a:srgbClr val="FFB300"/>
                </a:solidFill>
                <a:latin typeface="Calibri"/>
              </a:rPr>
              <a:t>Challenge  &amp;  Solution</a:t>
            </a:r>
          </a:p>
        </p:txBody>
      </p:sp>
      <p:sp>
        <p:nvSpPr>
          <p:cNvPr id="7" name="Rectangle 6"/>
          <p:cNvSpPr/>
          <p:nvPr/>
        </p:nvSpPr>
        <p:spPr>
          <a:xfrm>
            <a:off x="411480" y="1325880"/>
            <a:ext cx="2148840" cy="301752"/>
          </a:xfrm>
          <a:prstGeom prst="rect">
            <a:avLst/>
          </a:prstGeom>
          <a:solidFill>
            <a:srgbClr val="111630"/>
          </a:solidFill>
          <a:ln w="15240">
            <a:solidFill>
              <a:srgbClr val="FF5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1344168"/>
            <a:ext cx="2148840" cy="274320"/>
          </a:xfrm>
          <a:prstGeom prst="rect">
            <a:avLst/>
          </a:prstGeom>
          <a:noFill/>
        </p:spPr>
        <p:txBody>
          <a:bodyPr wrap="square">
            <a:spAutoFit/>
          </a:bodyPr>
          <a:lstStyle/>
          <a:p>
            <a:pPr algn="ctr"/>
            <a:r>
              <a:rPr sz="1000" b="1" i="0">
                <a:solidFill>
                  <a:srgbClr val="FFFFFF"/>
                </a:solidFill>
                <a:latin typeface="Calibri"/>
              </a:rPr>
              <a:t>CHALLENGE</a:t>
            </a:r>
          </a:p>
        </p:txBody>
      </p:sp>
      <p:sp>
        <p:nvSpPr>
          <p:cNvPr id="9" name="Rectangle 8"/>
          <p:cNvSpPr/>
          <p:nvPr/>
        </p:nvSpPr>
        <p:spPr>
          <a:xfrm>
            <a:off x="411480" y="1691640"/>
            <a:ext cx="8321040" cy="1316736"/>
          </a:xfrm>
          <a:prstGeom prst="rect">
            <a:avLst/>
          </a:prstGeom>
          <a:solidFill>
            <a:srgbClr val="1A0A0A"/>
          </a:solidFill>
          <a:ln w="15240">
            <a:solidFill>
              <a:srgbClr val="FF5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1691640"/>
            <a:ext cx="50292" cy="1316736"/>
          </a:xfrm>
          <a:prstGeom prst="rect">
            <a:avLst/>
          </a:prstGeom>
          <a:solidFill>
            <a:srgbClr val="FF5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1792224"/>
            <a:ext cx="7955279" cy="1115568"/>
          </a:xfrm>
          <a:prstGeom prst="rect">
            <a:avLst/>
          </a:prstGeom>
          <a:noFill/>
        </p:spPr>
        <p:txBody>
          <a:bodyPr wrap="square">
            <a:spAutoFit/>
          </a:bodyPr>
          <a:lstStyle/>
          <a:p>
            <a:pPr algn="l"/>
            <a:r>
              <a:rPr sz="1300" b="0" i="0">
                <a:solidFill>
                  <a:srgbClr val="FFB0B0"/>
                </a:solidFill>
                <a:latin typeface="Calibri"/>
              </a:rPr>
              <a:t>The original question bank had only 5 questions recycled randomly, making Intel Mission feel repetitive. Players who replayed saw the same questions immediately, removing all educational value on repeat sessions.</a:t>
            </a:r>
          </a:p>
        </p:txBody>
      </p:sp>
      <p:sp>
        <p:nvSpPr>
          <p:cNvPr id="12" name="Rectangle 11"/>
          <p:cNvSpPr/>
          <p:nvPr/>
        </p:nvSpPr>
        <p:spPr>
          <a:xfrm>
            <a:off x="411480" y="3145536"/>
            <a:ext cx="2148840" cy="301752"/>
          </a:xfrm>
          <a:prstGeom prst="rect">
            <a:avLst/>
          </a:prstGeom>
          <a:solidFill>
            <a:srgbClr val="111630"/>
          </a:solidFill>
          <a:ln w="15240">
            <a:solidFill>
              <a:srgbClr val="FFB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1480" y="3163824"/>
            <a:ext cx="2148840" cy="274320"/>
          </a:xfrm>
          <a:prstGeom prst="rect">
            <a:avLst/>
          </a:prstGeom>
          <a:noFill/>
        </p:spPr>
        <p:txBody>
          <a:bodyPr wrap="square">
            <a:spAutoFit/>
          </a:bodyPr>
          <a:lstStyle/>
          <a:p>
            <a:pPr algn="ctr"/>
            <a:r>
              <a:rPr sz="1000" b="1" i="0">
                <a:solidFill>
                  <a:srgbClr val="FFFFFF"/>
                </a:solidFill>
                <a:latin typeface="Calibri"/>
              </a:rPr>
              <a:t>SOLUTION</a:t>
            </a:r>
          </a:p>
        </p:txBody>
      </p:sp>
      <p:sp>
        <p:nvSpPr>
          <p:cNvPr id="14" name="Rectangle 13"/>
          <p:cNvSpPr/>
          <p:nvPr/>
        </p:nvSpPr>
        <p:spPr>
          <a:xfrm>
            <a:off x="411480" y="3511296"/>
            <a:ext cx="8321040" cy="1143000"/>
          </a:xfrm>
          <a:prstGeom prst="rect">
            <a:avLst/>
          </a:prstGeom>
          <a:solidFill>
            <a:srgbClr val="111630"/>
          </a:solidFill>
          <a:ln w="15240">
            <a:solidFill>
              <a:srgbClr val="FFB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1480" y="3511296"/>
            <a:ext cx="50292" cy="1143000"/>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611880"/>
            <a:ext cx="7955279" cy="960120"/>
          </a:xfrm>
          <a:prstGeom prst="rect">
            <a:avLst/>
          </a:prstGeom>
          <a:noFill/>
        </p:spPr>
        <p:txBody>
          <a:bodyPr wrap="square">
            <a:spAutoFit/>
          </a:bodyPr>
          <a:lstStyle/>
          <a:p>
            <a:pPr algn="l"/>
            <a:r>
              <a:rPr sz="1300" b="0" i="0">
                <a:solidFill>
                  <a:srgbClr val="B0B8CC"/>
                </a:solidFill>
                <a:latin typeface="Calibri"/>
              </a:rPr>
              <a:t>Expanded the bank to 20 unique real-world phishing scenarios covering the full taxonomy from module 503IT - spot-the-phish, URL analysis, response-choice, classify, and fill-in-the-blank. Questions draw in randomised order so every session stays fresh and academically rigorous.</a:t>
            </a:r>
          </a:p>
        </p:txBody>
      </p:sp>
      <p:sp>
        <p:nvSpPr>
          <p:cNvPr id="17" name="TextBox 16"/>
          <p:cNvSpPr txBox="1"/>
          <p:nvPr/>
        </p:nvSpPr>
        <p:spPr>
          <a:xfrm>
            <a:off x="8046720" y="4754880"/>
            <a:ext cx="822960" cy="274320"/>
          </a:xfrm>
          <a:prstGeom prst="rect">
            <a:avLst/>
          </a:prstGeom>
          <a:noFill/>
        </p:spPr>
        <p:txBody>
          <a:bodyPr wrap="square">
            <a:spAutoFit/>
          </a:bodyPr>
          <a:lstStyle/>
          <a:p>
            <a:pPr algn="r"/>
            <a:r>
              <a:rPr sz="1000" b="0" i="0">
                <a:solidFill>
                  <a:srgbClr val="505878"/>
                </a:solidFill>
                <a:latin typeface="Calibri"/>
              </a:rPr>
              <a:t>8 / 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7091A"/>
        </a:solidFill>
        <a:effectLst/>
      </p:bgPr>
    </p:bg>
    <p:spTree>
      <p:nvGrpSpPr>
        <p:cNvPr id="1" name=""/>
        <p:cNvGrpSpPr/>
        <p:nvPr/>
      </p:nvGrpSpPr>
      <p:grpSpPr/>
      <p:sp>
        <p:nvSpPr>
          <p:cNvPr id="2" name="Rectangle 1"/>
          <p:cNvSpPr/>
          <p:nvPr/>
        </p:nvSpPr>
        <p:spPr>
          <a:xfrm>
            <a:off x="0" y="0"/>
            <a:ext cx="9144000" cy="45720"/>
          </a:xfrm>
          <a:prstGeom prst="rect">
            <a:avLst/>
          </a:prstGeom>
          <a:solidFill>
            <a:srgbClr val="FF6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0" y="91440"/>
            <a:ext cx="4754880" cy="256032"/>
          </a:xfrm>
          <a:prstGeom prst="rect">
            <a:avLst/>
          </a:prstGeom>
          <a:noFill/>
        </p:spPr>
        <p:txBody>
          <a:bodyPr wrap="square">
            <a:spAutoFit/>
          </a:bodyPr>
          <a:lstStyle/>
          <a:p>
            <a:pPr algn="r"/>
            <a:r>
              <a:rPr sz="900" b="0" i="0">
                <a:solidFill>
                  <a:srgbClr val="505878"/>
                </a:solidFill>
                <a:latin typeface="Calibri"/>
              </a:rPr>
              <a:t>ShadowPhish  -  Coventry University  -  503IT</a:t>
            </a:r>
          </a:p>
        </p:txBody>
      </p:sp>
      <p:sp>
        <p:nvSpPr>
          <p:cNvPr id="4" name="Rectangle 3"/>
          <p:cNvSpPr/>
          <p:nvPr/>
        </p:nvSpPr>
        <p:spPr>
          <a:xfrm>
            <a:off x="411480" y="502920"/>
            <a:ext cx="59436" cy="640080"/>
          </a:xfrm>
          <a:prstGeom prst="rect">
            <a:avLst/>
          </a:prstGeom>
          <a:solidFill>
            <a:srgbClr val="FF6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30352" y="475488"/>
            <a:ext cx="5486400" cy="384048"/>
          </a:xfrm>
          <a:prstGeom prst="rect">
            <a:avLst/>
          </a:prstGeom>
          <a:noFill/>
        </p:spPr>
        <p:txBody>
          <a:bodyPr wrap="square">
            <a:spAutoFit/>
          </a:bodyPr>
          <a:lstStyle/>
          <a:p>
            <a:pPr algn="l"/>
            <a:r>
              <a:rPr sz="2600" b="1" i="0">
                <a:solidFill>
                  <a:srgbClr val="FFFFFF"/>
                </a:solidFill>
                <a:latin typeface="Calibri"/>
              </a:rPr>
              <a:t>Dipesh Regmi</a:t>
            </a:r>
          </a:p>
        </p:txBody>
      </p:sp>
      <p:sp>
        <p:nvSpPr>
          <p:cNvPr id="6" name="TextBox 5"/>
          <p:cNvSpPr txBox="1"/>
          <p:nvPr/>
        </p:nvSpPr>
        <p:spPr>
          <a:xfrm>
            <a:off x="530352" y="859536"/>
            <a:ext cx="6400800" cy="274320"/>
          </a:xfrm>
          <a:prstGeom prst="rect">
            <a:avLst/>
          </a:prstGeom>
          <a:noFill/>
        </p:spPr>
        <p:txBody>
          <a:bodyPr wrap="square">
            <a:spAutoFit/>
          </a:bodyPr>
          <a:lstStyle/>
          <a:p>
            <a:pPr algn="l"/>
            <a:r>
              <a:rPr sz="1300" b="0" i="1">
                <a:solidFill>
                  <a:srgbClr val="FF6E40"/>
                </a:solidFill>
                <a:latin typeface="Calibri"/>
              </a:rPr>
              <a:t>Frontend Developer  -  UI, Leaderboard &amp; Player Data</a:t>
            </a:r>
          </a:p>
        </p:txBody>
      </p:sp>
      <p:sp>
        <p:nvSpPr>
          <p:cNvPr id="7" name="Rectangle 6"/>
          <p:cNvSpPr/>
          <p:nvPr/>
        </p:nvSpPr>
        <p:spPr>
          <a:xfrm>
            <a:off x="411480" y="1325880"/>
            <a:ext cx="2148840" cy="301752"/>
          </a:xfrm>
          <a:prstGeom prst="rect">
            <a:avLst/>
          </a:prstGeom>
          <a:solidFill>
            <a:srgbClr val="111630"/>
          </a:solidFill>
          <a:ln w="15240">
            <a:solidFill>
              <a:srgbClr val="FF6E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1344168"/>
            <a:ext cx="2148840" cy="274320"/>
          </a:xfrm>
          <a:prstGeom prst="rect">
            <a:avLst/>
          </a:prstGeom>
          <a:noFill/>
        </p:spPr>
        <p:txBody>
          <a:bodyPr wrap="square">
            <a:spAutoFit/>
          </a:bodyPr>
          <a:lstStyle/>
          <a:p>
            <a:pPr algn="ctr"/>
            <a:r>
              <a:rPr sz="1000" b="1" i="0">
                <a:solidFill>
                  <a:srgbClr val="FFFFFF"/>
                </a:solidFill>
                <a:latin typeface="Calibri"/>
              </a:rPr>
              <a:t>KEY CONTRIBUTIONS</a:t>
            </a:r>
          </a:p>
        </p:txBody>
      </p:sp>
      <p:sp>
        <p:nvSpPr>
          <p:cNvPr id="9" name="Rectangle 8"/>
          <p:cNvSpPr/>
          <p:nvPr/>
        </p:nvSpPr>
        <p:spPr>
          <a:xfrm>
            <a:off x="411480" y="1691640"/>
            <a:ext cx="4069080" cy="2926080"/>
          </a:xfrm>
          <a:prstGeom prst="rect">
            <a:avLst/>
          </a:prstGeom>
          <a:solidFill>
            <a:srgbClr val="111630"/>
          </a:solidFill>
          <a:ln w="15240">
            <a:solidFill>
              <a:srgbClr val="FF6E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1691640"/>
            <a:ext cx="50292" cy="2926080"/>
          </a:xfrm>
          <a:prstGeom prst="rect">
            <a:avLst/>
          </a:prstGeom>
          <a:solidFill>
            <a:srgbClr val="FF6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6072" y="1801368"/>
            <a:ext cx="3813048" cy="2724912"/>
          </a:xfrm>
          <a:prstGeom prst="rect">
            <a:avLst/>
          </a:prstGeom>
          <a:noFill/>
        </p:spPr>
        <p:txBody>
          <a:bodyPr wrap="square">
            <a:spAutoFit/>
          </a:bodyPr>
          <a:lstStyle/>
          <a:p>
            <a:pPr marL="109728" indent="-109728"/>
            <a:r>
              <a:rPr sz="1200">
                <a:solidFill>
                  <a:srgbClr val="B0B8CC"/>
                </a:solidFill>
                <a:latin typeface="Calibri"/>
              </a:rPr>
              <a:t>&gt;  Built Leaderboard UI to display and rank top player scores</a:t>
            </a:r>
          </a:p>
          <a:p>
            <a:pPr marL="109728" indent="-109728" spcBef="2540000"/>
            <a:r>
              <a:rPr sz="1200">
                <a:solidFill>
                  <a:srgbClr val="B0B8CC"/>
                </a:solidFill>
                <a:latin typeface="Calibri"/>
              </a:rPr>
              <a:t>&gt;  Implemented Username Management for personalised player profiles</a:t>
            </a:r>
          </a:p>
          <a:p>
            <a:pPr marL="109728" indent="-109728" spcBef="2540000"/>
            <a:r>
              <a:rPr sz="1200">
                <a:solidFill>
                  <a:srgbClr val="B0B8CC"/>
                </a:solidFill>
                <a:latin typeface="Calibri"/>
              </a:rPr>
              <a:t>&gt;  Collaborating on Database Player Progress tracking with Bishal</a:t>
            </a:r>
          </a:p>
          <a:p>
            <a:pPr marL="109728" indent="-109728" spcBef="2540000"/>
            <a:r>
              <a:rPr sz="1200">
                <a:solidFill>
                  <a:srgbClr val="B0B8CC"/>
                </a:solidFill>
                <a:latin typeface="Calibri"/>
              </a:rPr>
              <a:t>&gt;  Working on Sound Integration feature alongside Allen</a:t>
            </a:r>
          </a:p>
          <a:p>
            <a:pPr marL="109728" indent="-109728" spcBef="2540000"/>
            <a:r>
              <a:rPr sz="1200">
                <a:solidFill>
                  <a:srgbClr val="B0B8CC"/>
                </a:solidFill>
                <a:latin typeface="Calibri"/>
              </a:rPr>
              <a:t>&gt;  Verified cross-browser compatibility on Chrome, Firefox and Edge</a:t>
            </a:r>
          </a:p>
        </p:txBody>
      </p:sp>
      <p:sp>
        <p:nvSpPr>
          <p:cNvPr id="12" name="Rectangle 11"/>
          <p:cNvSpPr/>
          <p:nvPr/>
        </p:nvSpPr>
        <p:spPr>
          <a:xfrm>
            <a:off x="4800600" y="1325880"/>
            <a:ext cx="2148840" cy="301752"/>
          </a:xfrm>
          <a:prstGeom prst="rect">
            <a:avLst/>
          </a:prstGeom>
          <a:solidFill>
            <a:srgbClr val="111630"/>
          </a:solidFill>
          <a:ln w="15240">
            <a:solidFill>
              <a:srgbClr val="00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1344168"/>
            <a:ext cx="2148840" cy="274320"/>
          </a:xfrm>
          <a:prstGeom prst="rect">
            <a:avLst/>
          </a:prstGeom>
          <a:noFill/>
        </p:spPr>
        <p:txBody>
          <a:bodyPr wrap="square">
            <a:spAutoFit/>
          </a:bodyPr>
          <a:lstStyle/>
          <a:p>
            <a:pPr algn="ctr"/>
            <a:r>
              <a:rPr sz="1000" b="1" i="0">
                <a:solidFill>
                  <a:srgbClr val="FFFFFF"/>
                </a:solidFill>
                <a:latin typeface="Calibri"/>
              </a:rPr>
              <a:t>PLANNER TASKS</a:t>
            </a:r>
          </a:p>
        </p:txBody>
      </p:sp>
      <p:sp>
        <p:nvSpPr>
          <p:cNvPr id="14" name="Rectangle 13"/>
          <p:cNvSpPr/>
          <p:nvPr/>
        </p:nvSpPr>
        <p:spPr>
          <a:xfrm>
            <a:off x="4800600" y="1691640"/>
            <a:ext cx="3931920" cy="2926080"/>
          </a:xfrm>
          <a:prstGeom prst="rect">
            <a:avLst/>
          </a:prstGeom>
          <a:solidFill>
            <a:srgbClr val="111630"/>
          </a:solidFill>
          <a:ln w="15240">
            <a:solidFill>
              <a:srgbClr val="00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800600" y="1691640"/>
            <a:ext cx="50292" cy="292608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965192" y="1801368"/>
            <a:ext cx="3675888" cy="2724912"/>
          </a:xfrm>
          <a:prstGeom prst="rect">
            <a:avLst/>
          </a:prstGeom>
          <a:noFill/>
        </p:spPr>
        <p:txBody>
          <a:bodyPr wrap="square">
            <a:spAutoFit/>
          </a:bodyPr>
          <a:lstStyle/>
          <a:p>
            <a:pPr marL="109728" indent="-109728"/>
            <a:r>
              <a:rPr sz="1200">
                <a:solidFill>
                  <a:srgbClr val="B0B8CC"/>
                </a:solidFill>
                <a:latin typeface="Calibri"/>
              </a:rPr>
              <a:t>&gt;  Leaderboard UI  [done]</a:t>
            </a:r>
          </a:p>
          <a:p>
            <a:pPr marL="109728" indent="-109728" spcBef="2540000"/>
            <a:r>
              <a:rPr sz="1200">
                <a:solidFill>
                  <a:srgbClr val="B0B8CC"/>
                </a:solidFill>
                <a:latin typeface="Calibri"/>
              </a:rPr>
              <a:t>&gt;  Username Management  [done]</a:t>
            </a:r>
          </a:p>
          <a:p>
            <a:pPr marL="109728" indent="-109728" spcBef="2540000"/>
            <a:r>
              <a:rPr sz="1200">
                <a:solidFill>
                  <a:srgbClr val="B0B8CC"/>
                </a:solidFill>
                <a:latin typeface="Calibri"/>
              </a:rPr>
              <a:t>&gt;  Database Player Progress  [doing - In progress]</a:t>
            </a:r>
          </a:p>
          <a:p>
            <a:pPr marL="109728" indent="-109728" spcBef="2540000"/>
            <a:r>
              <a:rPr sz="1200">
                <a:solidFill>
                  <a:srgbClr val="B0B8CC"/>
                </a:solidFill>
                <a:latin typeface="Calibri"/>
              </a:rPr>
              <a:t>&gt;  Sound Integration  [doing - In progress]</a:t>
            </a:r>
          </a:p>
        </p:txBody>
      </p:sp>
      <p:sp>
        <p:nvSpPr>
          <p:cNvPr id="17" name="TextBox 16"/>
          <p:cNvSpPr txBox="1"/>
          <p:nvPr/>
        </p:nvSpPr>
        <p:spPr>
          <a:xfrm>
            <a:off x="8046720" y="4754880"/>
            <a:ext cx="822960" cy="274320"/>
          </a:xfrm>
          <a:prstGeom prst="rect">
            <a:avLst/>
          </a:prstGeom>
          <a:noFill/>
        </p:spPr>
        <p:txBody>
          <a:bodyPr wrap="square">
            <a:spAutoFit/>
          </a:bodyPr>
          <a:lstStyle/>
          <a:p>
            <a:pPr algn="r"/>
            <a:r>
              <a:rPr sz="1000" b="0" i="0">
                <a:solidFill>
                  <a:srgbClr val="505878"/>
                </a:solidFill>
                <a:latin typeface="Calibri"/>
              </a:rPr>
              <a:t>9 / 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7091A"/>
        </a:solidFill>
        <a:effectLst/>
      </p:bgPr>
    </p:bg>
    <p:spTree>
      <p:nvGrpSpPr>
        <p:cNvPr id="1" name=""/>
        <p:cNvGrpSpPr/>
        <p:nvPr/>
      </p:nvGrpSpPr>
      <p:grpSpPr/>
      <p:sp>
        <p:nvSpPr>
          <p:cNvPr id="2" name="Rectangle 1"/>
          <p:cNvSpPr/>
          <p:nvPr/>
        </p:nvSpPr>
        <p:spPr>
          <a:xfrm>
            <a:off x="0" y="0"/>
            <a:ext cx="9144000" cy="45720"/>
          </a:xfrm>
          <a:prstGeom prst="rect">
            <a:avLst/>
          </a:prstGeom>
          <a:solidFill>
            <a:srgbClr val="FF6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0" y="91440"/>
            <a:ext cx="4754880" cy="256032"/>
          </a:xfrm>
          <a:prstGeom prst="rect">
            <a:avLst/>
          </a:prstGeom>
          <a:noFill/>
        </p:spPr>
        <p:txBody>
          <a:bodyPr wrap="square">
            <a:spAutoFit/>
          </a:bodyPr>
          <a:lstStyle/>
          <a:p>
            <a:pPr algn="r"/>
            <a:r>
              <a:rPr sz="900" b="0" i="0">
                <a:solidFill>
                  <a:srgbClr val="505878"/>
                </a:solidFill>
                <a:latin typeface="Calibri"/>
              </a:rPr>
              <a:t>ShadowPhish  -  Coventry University  -  503IT</a:t>
            </a:r>
          </a:p>
        </p:txBody>
      </p:sp>
      <p:sp>
        <p:nvSpPr>
          <p:cNvPr id="4" name="Rectangle 3"/>
          <p:cNvSpPr/>
          <p:nvPr/>
        </p:nvSpPr>
        <p:spPr>
          <a:xfrm>
            <a:off x="411480" y="502920"/>
            <a:ext cx="59436" cy="640080"/>
          </a:xfrm>
          <a:prstGeom prst="rect">
            <a:avLst/>
          </a:prstGeom>
          <a:solidFill>
            <a:srgbClr val="FF6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30352" y="475488"/>
            <a:ext cx="5486400" cy="384048"/>
          </a:xfrm>
          <a:prstGeom prst="rect">
            <a:avLst/>
          </a:prstGeom>
          <a:noFill/>
        </p:spPr>
        <p:txBody>
          <a:bodyPr wrap="square">
            <a:spAutoFit/>
          </a:bodyPr>
          <a:lstStyle/>
          <a:p>
            <a:pPr algn="l"/>
            <a:r>
              <a:rPr sz="2600" b="1" i="0">
                <a:solidFill>
                  <a:srgbClr val="FFFFFF"/>
                </a:solidFill>
                <a:latin typeface="Calibri"/>
              </a:rPr>
              <a:t>Dipesh Regmi</a:t>
            </a:r>
          </a:p>
        </p:txBody>
      </p:sp>
      <p:sp>
        <p:nvSpPr>
          <p:cNvPr id="6" name="TextBox 5"/>
          <p:cNvSpPr txBox="1"/>
          <p:nvPr/>
        </p:nvSpPr>
        <p:spPr>
          <a:xfrm>
            <a:off x="530352" y="859536"/>
            <a:ext cx="6400800" cy="274320"/>
          </a:xfrm>
          <a:prstGeom prst="rect">
            <a:avLst/>
          </a:prstGeom>
          <a:noFill/>
        </p:spPr>
        <p:txBody>
          <a:bodyPr wrap="square">
            <a:spAutoFit/>
          </a:bodyPr>
          <a:lstStyle/>
          <a:p>
            <a:pPr algn="l"/>
            <a:r>
              <a:rPr sz="1300" b="0" i="1">
                <a:solidFill>
                  <a:srgbClr val="FF6E40"/>
                </a:solidFill>
                <a:latin typeface="Calibri"/>
              </a:rPr>
              <a:t>Challenge  &amp;  Solution</a:t>
            </a:r>
          </a:p>
        </p:txBody>
      </p:sp>
      <p:sp>
        <p:nvSpPr>
          <p:cNvPr id="7" name="Rectangle 6"/>
          <p:cNvSpPr/>
          <p:nvPr/>
        </p:nvSpPr>
        <p:spPr>
          <a:xfrm>
            <a:off x="411480" y="1325880"/>
            <a:ext cx="2148840" cy="301752"/>
          </a:xfrm>
          <a:prstGeom prst="rect">
            <a:avLst/>
          </a:prstGeom>
          <a:solidFill>
            <a:srgbClr val="111630"/>
          </a:solidFill>
          <a:ln w="15240">
            <a:solidFill>
              <a:srgbClr val="FF5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1344168"/>
            <a:ext cx="2148840" cy="274320"/>
          </a:xfrm>
          <a:prstGeom prst="rect">
            <a:avLst/>
          </a:prstGeom>
          <a:noFill/>
        </p:spPr>
        <p:txBody>
          <a:bodyPr wrap="square">
            <a:spAutoFit/>
          </a:bodyPr>
          <a:lstStyle/>
          <a:p>
            <a:pPr algn="ctr"/>
            <a:r>
              <a:rPr sz="1000" b="1" i="0">
                <a:solidFill>
                  <a:srgbClr val="FFFFFF"/>
                </a:solidFill>
                <a:latin typeface="Calibri"/>
              </a:rPr>
              <a:t>CHALLENGE</a:t>
            </a:r>
          </a:p>
        </p:txBody>
      </p:sp>
      <p:sp>
        <p:nvSpPr>
          <p:cNvPr id="9" name="Rectangle 8"/>
          <p:cNvSpPr/>
          <p:nvPr/>
        </p:nvSpPr>
        <p:spPr>
          <a:xfrm>
            <a:off x="411480" y="1691640"/>
            <a:ext cx="8321040" cy="1316736"/>
          </a:xfrm>
          <a:prstGeom prst="rect">
            <a:avLst/>
          </a:prstGeom>
          <a:solidFill>
            <a:srgbClr val="1A0A0A"/>
          </a:solidFill>
          <a:ln w="15240">
            <a:solidFill>
              <a:srgbClr val="FF5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1691640"/>
            <a:ext cx="50292" cy="1316736"/>
          </a:xfrm>
          <a:prstGeom prst="rect">
            <a:avLst/>
          </a:prstGeom>
          <a:solidFill>
            <a:srgbClr val="FF5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1792224"/>
            <a:ext cx="7955279" cy="1115568"/>
          </a:xfrm>
          <a:prstGeom prst="rect">
            <a:avLst/>
          </a:prstGeom>
          <a:noFill/>
        </p:spPr>
        <p:txBody>
          <a:bodyPr wrap="square">
            <a:spAutoFit/>
          </a:bodyPr>
          <a:lstStyle/>
          <a:p>
            <a:pPr algn="l"/>
            <a:r>
              <a:rPr sz="1300" b="0" i="0">
                <a:solidFill>
                  <a:srgbClr val="FFB0B0"/>
                </a:solidFill>
                <a:latin typeface="Calibri"/>
              </a:rPr>
              <a:t>The login form allowed empty submissions and short passwords with no visible feedback - players thought the game was broken when the login button silently did nothing on invalid input.</a:t>
            </a:r>
          </a:p>
        </p:txBody>
      </p:sp>
      <p:sp>
        <p:nvSpPr>
          <p:cNvPr id="12" name="Rectangle 11"/>
          <p:cNvSpPr/>
          <p:nvPr/>
        </p:nvSpPr>
        <p:spPr>
          <a:xfrm>
            <a:off x="411480" y="3145536"/>
            <a:ext cx="2148840" cy="301752"/>
          </a:xfrm>
          <a:prstGeom prst="rect">
            <a:avLst/>
          </a:prstGeom>
          <a:solidFill>
            <a:srgbClr val="111630"/>
          </a:solidFill>
          <a:ln w="15240">
            <a:solidFill>
              <a:srgbClr val="FF6E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1480" y="3163824"/>
            <a:ext cx="2148840" cy="274320"/>
          </a:xfrm>
          <a:prstGeom prst="rect">
            <a:avLst/>
          </a:prstGeom>
          <a:noFill/>
        </p:spPr>
        <p:txBody>
          <a:bodyPr wrap="square">
            <a:spAutoFit/>
          </a:bodyPr>
          <a:lstStyle/>
          <a:p>
            <a:pPr algn="ctr"/>
            <a:r>
              <a:rPr sz="1000" b="1" i="0">
                <a:solidFill>
                  <a:srgbClr val="FFFFFF"/>
                </a:solidFill>
                <a:latin typeface="Calibri"/>
              </a:rPr>
              <a:t>SOLUTION</a:t>
            </a:r>
          </a:p>
        </p:txBody>
      </p:sp>
      <p:sp>
        <p:nvSpPr>
          <p:cNvPr id="14" name="Rectangle 13"/>
          <p:cNvSpPr/>
          <p:nvPr/>
        </p:nvSpPr>
        <p:spPr>
          <a:xfrm>
            <a:off x="411480" y="3511296"/>
            <a:ext cx="8321040" cy="1143000"/>
          </a:xfrm>
          <a:prstGeom prst="rect">
            <a:avLst/>
          </a:prstGeom>
          <a:solidFill>
            <a:srgbClr val="111630"/>
          </a:solidFill>
          <a:ln w="15240">
            <a:solidFill>
              <a:srgbClr val="FF6E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1480" y="3511296"/>
            <a:ext cx="50292" cy="1143000"/>
          </a:xfrm>
          <a:prstGeom prst="rect">
            <a:avLst/>
          </a:prstGeom>
          <a:solidFill>
            <a:srgbClr val="FF6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611880"/>
            <a:ext cx="7955279" cy="960120"/>
          </a:xfrm>
          <a:prstGeom prst="rect">
            <a:avLst/>
          </a:prstGeom>
          <a:noFill/>
        </p:spPr>
        <p:txBody>
          <a:bodyPr wrap="square">
            <a:spAutoFit/>
          </a:bodyPr>
          <a:lstStyle/>
          <a:p>
            <a:pPr algn="l"/>
            <a:r>
              <a:rPr sz="1300" b="0" i="0">
                <a:solidFill>
                  <a:srgbClr val="B0B8CC"/>
                </a:solidFill>
                <a:latin typeface="Calibri"/>
              </a:rPr>
              <a:t>Added explicit client-side validation: empty-field checks, minimum codename length of 3 and password length of 4, coloured error messages, and a CSS shake animation on the card. The shake gives immediate tactile feedback so players know exactly what needs correcting before retrying.</a:t>
            </a:r>
          </a:p>
        </p:txBody>
      </p:sp>
      <p:sp>
        <p:nvSpPr>
          <p:cNvPr id="17" name="TextBox 16"/>
          <p:cNvSpPr txBox="1"/>
          <p:nvPr/>
        </p:nvSpPr>
        <p:spPr>
          <a:xfrm>
            <a:off x="8046720" y="4754880"/>
            <a:ext cx="822960" cy="274320"/>
          </a:xfrm>
          <a:prstGeom prst="rect">
            <a:avLst/>
          </a:prstGeom>
          <a:noFill/>
        </p:spPr>
        <p:txBody>
          <a:bodyPr wrap="square">
            <a:spAutoFit/>
          </a:bodyPr>
          <a:lstStyle/>
          <a:p>
            <a:pPr algn="r"/>
            <a:r>
              <a:rPr sz="1000" b="0" i="0">
                <a:solidFill>
                  <a:srgbClr val="505878"/>
                </a:solidFill>
                <a:latin typeface="Calibri"/>
              </a:rPr>
              <a:t>10 /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7091A"/>
        </a:solidFill>
        <a:effectLst/>
      </p:bgPr>
    </p:bg>
    <p:spTree>
      <p:nvGrpSpPr>
        <p:cNvPr id="1" name=""/>
        <p:cNvGrpSpPr/>
        <p:nvPr/>
      </p:nvGrpSpPr>
      <p:grpSpPr/>
      <p:sp>
        <p:nvSpPr>
          <p:cNvPr id="2" name="Rectangle 1"/>
          <p:cNvSpPr/>
          <p:nvPr/>
        </p:nvSpPr>
        <p:spPr>
          <a:xfrm>
            <a:off x="0" y="0"/>
            <a:ext cx="9144000" cy="45720"/>
          </a:xfrm>
          <a:prstGeom prst="rect">
            <a:avLst/>
          </a:prstGeom>
          <a:solidFill>
            <a:srgbClr val="E040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0" y="91440"/>
            <a:ext cx="4754880" cy="256032"/>
          </a:xfrm>
          <a:prstGeom prst="rect">
            <a:avLst/>
          </a:prstGeom>
          <a:noFill/>
        </p:spPr>
        <p:txBody>
          <a:bodyPr wrap="square">
            <a:spAutoFit/>
          </a:bodyPr>
          <a:lstStyle/>
          <a:p>
            <a:pPr algn="r"/>
            <a:r>
              <a:rPr sz="900" b="0" i="0">
                <a:solidFill>
                  <a:srgbClr val="505878"/>
                </a:solidFill>
                <a:latin typeface="Calibri"/>
              </a:rPr>
              <a:t>ShadowPhish  -  Coventry University  -  503IT</a:t>
            </a:r>
          </a:p>
        </p:txBody>
      </p:sp>
      <p:sp>
        <p:nvSpPr>
          <p:cNvPr id="4" name="Rectangle 3"/>
          <p:cNvSpPr/>
          <p:nvPr/>
        </p:nvSpPr>
        <p:spPr>
          <a:xfrm>
            <a:off x="411480" y="502920"/>
            <a:ext cx="59436" cy="640080"/>
          </a:xfrm>
          <a:prstGeom prst="rect">
            <a:avLst/>
          </a:prstGeom>
          <a:solidFill>
            <a:srgbClr val="E040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30352" y="475488"/>
            <a:ext cx="5486400" cy="384048"/>
          </a:xfrm>
          <a:prstGeom prst="rect">
            <a:avLst/>
          </a:prstGeom>
          <a:noFill/>
        </p:spPr>
        <p:txBody>
          <a:bodyPr wrap="square">
            <a:spAutoFit/>
          </a:bodyPr>
          <a:lstStyle/>
          <a:p>
            <a:pPr algn="l"/>
            <a:r>
              <a:rPr sz="2600" b="1" i="0">
                <a:solidFill>
                  <a:srgbClr val="FFFFFF"/>
                </a:solidFill>
                <a:latin typeface="Calibri"/>
              </a:rPr>
              <a:t>Avtar</a:t>
            </a:r>
          </a:p>
        </p:txBody>
      </p:sp>
      <p:sp>
        <p:nvSpPr>
          <p:cNvPr id="6" name="TextBox 5"/>
          <p:cNvSpPr txBox="1"/>
          <p:nvPr/>
        </p:nvSpPr>
        <p:spPr>
          <a:xfrm>
            <a:off x="530352" y="859536"/>
            <a:ext cx="6400800" cy="274320"/>
          </a:xfrm>
          <a:prstGeom prst="rect">
            <a:avLst/>
          </a:prstGeom>
          <a:noFill/>
        </p:spPr>
        <p:txBody>
          <a:bodyPr wrap="square">
            <a:spAutoFit/>
          </a:bodyPr>
          <a:lstStyle/>
          <a:p>
            <a:pPr algn="l"/>
            <a:r>
              <a:rPr sz="1300" b="0" i="1">
                <a:solidFill>
                  <a:srgbClr val="E040FB"/>
                </a:solidFill>
                <a:latin typeface="Calibri"/>
              </a:rPr>
              <a:t>Game Content  -  Questions, Core Logic &amp; QA</a:t>
            </a:r>
          </a:p>
        </p:txBody>
      </p:sp>
      <p:sp>
        <p:nvSpPr>
          <p:cNvPr id="7" name="Rectangle 6"/>
          <p:cNvSpPr/>
          <p:nvPr/>
        </p:nvSpPr>
        <p:spPr>
          <a:xfrm>
            <a:off x="411480" y="1325880"/>
            <a:ext cx="2148840" cy="301752"/>
          </a:xfrm>
          <a:prstGeom prst="rect">
            <a:avLst/>
          </a:prstGeom>
          <a:solidFill>
            <a:srgbClr val="111630"/>
          </a:solidFill>
          <a:ln w="15240">
            <a:solidFill>
              <a:srgbClr val="E040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1344168"/>
            <a:ext cx="2148840" cy="274320"/>
          </a:xfrm>
          <a:prstGeom prst="rect">
            <a:avLst/>
          </a:prstGeom>
          <a:noFill/>
        </p:spPr>
        <p:txBody>
          <a:bodyPr wrap="square">
            <a:spAutoFit/>
          </a:bodyPr>
          <a:lstStyle/>
          <a:p>
            <a:pPr algn="ctr"/>
            <a:r>
              <a:rPr sz="1000" b="1" i="0">
                <a:solidFill>
                  <a:srgbClr val="FFFFFF"/>
                </a:solidFill>
                <a:latin typeface="Calibri"/>
              </a:rPr>
              <a:t>KEY CONTRIBUTIONS</a:t>
            </a:r>
          </a:p>
        </p:txBody>
      </p:sp>
      <p:sp>
        <p:nvSpPr>
          <p:cNvPr id="9" name="Rectangle 8"/>
          <p:cNvSpPr/>
          <p:nvPr/>
        </p:nvSpPr>
        <p:spPr>
          <a:xfrm>
            <a:off x="411480" y="1691640"/>
            <a:ext cx="4069080" cy="2926080"/>
          </a:xfrm>
          <a:prstGeom prst="rect">
            <a:avLst/>
          </a:prstGeom>
          <a:solidFill>
            <a:srgbClr val="111630"/>
          </a:solidFill>
          <a:ln w="15240">
            <a:solidFill>
              <a:srgbClr val="E040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1691640"/>
            <a:ext cx="50292" cy="2926080"/>
          </a:xfrm>
          <a:prstGeom prst="rect">
            <a:avLst/>
          </a:prstGeom>
          <a:solidFill>
            <a:srgbClr val="E040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6072" y="1801368"/>
            <a:ext cx="3813048" cy="2724912"/>
          </a:xfrm>
          <a:prstGeom prst="rect">
            <a:avLst/>
          </a:prstGeom>
          <a:noFill/>
        </p:spPr>
        <p:txBody>
          <a:bodyPr wrap="square">
            <a:spAutoFit/>
          </a:bodyPr>
          <a:lstStyle/>
          <a:p>
            <a:pPr marL="109728" indent="-109728"/>
            <a:r>
              <a:rPr sz="1200">
                <a:solidFill>
                  <a:srgbClr val="B0B8CC"/>
                </a:solidFill>
                <a:latin typeface="Calibri"/>
              </a:rPr>
              <a:t>&gt;  Developing Question Content for all game levels (currently in progress)</a:t>
            </a:r>
          </a:p>
          <a:p>
            <a:pPr marL="109728" indent="-109728" spcBef="2540000"/>
            <a:r>
              <a:rPr sz="1200">
                <a:solidFill>
                  <a:srgbClr val="B0B8CC"/>
                </a:solidFill>
                <a:latin typeface="Calibri"/>
              </a:rPr>
              <a:t>&gt;  Co-built Core Game Logic with Bishal powering the main gameplay loop</a:t>
            </a:r>
          </a:p>
          <a:p>
            <a:pPr marL="109728" indent="-109728" spcBef="2540000"/>
            <a:r>
              <a:rPr sz="1200">
                <a:solidFill>
                  <a:srgbClr val="B0B8CC"/>
                </a:solidFill>
                <a:latin typeface="Calibri"/>
              </a:rPr>
              <a:t>&gt;  Participated in full-game QA Testing alongside the whole team</a:t>
            </a:r>
          </a:p>
          <a:p>
            <a:pPr marL="109728" indent="-109728" spcBef="2540000"/>
            <a:r>
              <a:rPr sz="1200">
                <a:solidFill>
                  <a:srgbClr val="B0B8CC"/>
                </a:solidFill>
                <a:latin typeface="Calibri"/>
              </a:rPr>
              <a:t>&gt;  Integrated SVG ShadowPhish logo with CSS float animation on home screen</a:t>
            </a:r>
          </a:p>
          <a:p>
            <a:pPr marL="109728" indent="-109728" spcBef="2540000"/>
            <a:r>
              <a:rPr sz="1200">
                <a:solidFill>
                  <a:srgbClr val="B0B8CC"/>
                </a:solidFill>
                <a:latin typeface="Calibri"/>
              </a:rPr>
              <a:t>&gt;  Tested infinite runner mode - confirmed stable past 10,000 m</a:t>
            </a:r>
          </a:p>
        </p:txBody>
      </p:sp>
      <p:sp>
        <p:nvSpPr>
          <p:cNvPr id="12" name="Rectangle 11"/>
          <p:cNvSpPr/>
          <p:nvPr/>
        </p:nvSpPr>
        <p:spPr>
          <a:xfrm>
            <a:off x="4800600" y="1325880"/>
            <a:ext cx="2148840" cy="301752"/>
          </a:xfrm>
          <a:prstGeom prst="rect">
            <a:avLst/>
          </a:prstGeom>
          <a:solidFill>
            <a:srgbClr val="111630"/>
          </a:solidFill>
          <a:ln w="15240">
            <a:solidFill>
              <a:srgbClr val="00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1344168"/>
            <a:ext cx="2148840" cy="274320"/>
          </a:xfrm>
          <a:prstGeom prst="rect">
            <a:avLst/>
          </a:prstGeom>
          <a:noFill/>
        </p:spPr>
        <p:txBody>
          <a:bodyPr wrap="square">
            <a:spAutoFit/>
          </a:bodyPr>
          <a:lstStyle/>
          <a:p>
            <a:pPr algn="ctr"/>
            <a:r>
              <a:rPr sz="1000" b="1" i="0">
                <a:solidFill>
                  <a:srgbClr val="FFFFFF"/>
                </a:solidFill>
                <a:latin typeface="Calibri"/>
              </a:rPr>
              <a:t>PLANNER TASKS</a:t>
            </a:r>
          </a:p>
        </p:txBody>
      </p:sp>
      <p:sp>
        <p:nvSpPr>
          <p:cNvPr id="14" name="Rectangle 13"/>
          <p:cNvSpPr/>
          <p:nvPr/>
        </p:nvSpPr>
        <p:spPr>
          <a:xfrm>
            <a:off x="4800600" y="1691640"/>
            <a:ext cx="3931920" cy="2926080"/>
          </a:xfrm>
          <a:prstGeom prst="rect">
            <a:avLst/>
          </a:prstGeom>
          <a:solidFill>
            <a:srgbClr val="111630"/>
          </a:solidFill>
          <a:ln w="15240">
            <a:solidFill>
              <a:srgbClr val="00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800600" y="1691640"/>
            <a:ext cx="50292" cy="292608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965192" y="1801368"/>
            <a:ext cx="3675888" cy="2724912"/>
          </a:xfrm>
          <a:prstGeom prst="rect">
            <a:avLst/>
          </a:prstGeom>
          <a:noFill/>
        </p:spPr>
        <p:txBody>
          <a:bodyPr wrap="square">
            <a:spAutoFit/>
          </a:bodyPr>
          <a:lstStyle/>
          <a:p>
            <a:pPr marL="109728" indent="-109728"/>
            <a:r>
              <a:rPr sz="1200">
                <a:solidFill>
                  <a:srgbClr val="B0B8CC"/>
                </a:solidFill>
                <a:latin typeface="Calibri"/>
              </a:rPr>
              <a:t>&gt;  Question Content  [doing - In progress]</a:t>
            </a:r>
          </a:p>
          <a:p>
            <a:pPr marL="109728" indent="-109728" spcBef="2540000"/>
            <a:r>
              <a:rPr sz="1200">
                <a:solidFill>
                  <a:srgbClr val="B0B8CC"/>
                </a:solidFill>
                <a:latin typeface="Calibri"/>
              </a:rPr>
              <a:t>&gt;  Core Game Logic  [done]</a:t>
            </a:r>
          </a:p>
          <a:p>
            <a:pPr marL="109728" indent="-109728" spcBef="2540000"/>
            <a:r>
              <a:rPr sz="1200">
                <a:solidFill>
                  <a:srgbClr val="B0B8CC"/>
                </a:solidFill>
                <a:latin typeface="Calibri"/>
              </a:rPr>
              <a:t>&gt;  QA Testing - full game  [done]</a:t>
            </a:r>
          </a:p>
        </p:txBody>
      </p:sp>
      <p:sp>
        <p:nvSpPr>
          <p:cNvPr id="17" name="TextBox 16"/>
          <p:cNvSpPr txBox="1"/>
          <p:nvPr/>
        </p:nvSpPr>
        <p:spPr>
          <a:xfrm>
            <a:off x="8046720" y="4754880"/>
            <a:ext cx="822960" cy="274320"/>
          </a:xfrm>
          <a:prstGeom prst="rect">
            <a:avLst/>
          </a:prstGeom>
          <a:noFill/>
        </p:spPr>
        <p:txBody>
          <a:bodyPr wrap="square">
            <a:spAutoFit/>
          </a:bodyPr>
          <a:lstStyle/>
          <a:p>
            <a:pPr algn="r"/>
            <a:r>
              <a:rPr sz="1000" b="0" i="0">
                <a:solidFill>
                  <a:srgbClr val="505878"/>
                </a:solidFill>
                <a:latin typeface="Calibri"/>
              </a:rPr>
              <a:t>11 /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7091A"/>
        </a:solidFill>
        <a:effectLst/>
      </p:bgPr>
    </p:bg>
    <p:spTree>
      <p:nvGrpSpPr>
        <p:cNvPr id="1" name=""/>
        <p:cNvGrpSpPr/>
        <p:nvPr/>
      </p:nvGrpSpPr>
      <p:grpSpPr/>
      <p:sp>
        <p:nvSpPr>
          <p:cNvPr id="2" name="Rectangle 1"/>
          <p:cNvSpPr/>
          <p:nvPr/>
        </p:nvSpPr>
        <p:spPr>
          <a:xfrm>
            <a:off x="0" y="0"/>
            <a:ext cx="9144000" cy="45720"/>
          </a:xfrm>
          <a:prstGeom prst="rect">
            <a:avLst/>
          </a:prstGeom>
          <a:solidFill>
            <a:srgbClr val="E040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0" y="91440"/>
            <a:ext cx="4754880" cy="256032"/>
          </a:xfrm>
          <a:prstGeom prst="rect">
            <a:avLst/>
          </a:prstGeom>
          <a:noFill/>
        </p:spPr>
        <p:txBody>
          <a:bodyPr wrap="square">
            <a:spAutoFit/>
          </a:bodyPr>
          <a:lstStyle/>
          <a:p>
            <a:pPr algn="r"/>
            <a:r>
              <a:rPr sz="900" b="0" i="0">
                <a:solidFill>
                  <a:srgbClr val="505878"/>
                </a:solidFill>
                <a:latin typeface="Calibri"/>
              </a:rPr>
              <a:t>ShadowPhish  -  Coventry University  -  503IT</a:t>
            </a:r>
          </a:p>
        </p:txBody>
      </p:sp>
      <p:sp>
        <p:nvSpPr>
          <p:cNvPr id="4" name="Rectangle 3"/>
          <p:cNvSpPr/>
          <p:nvPr/>
        </p:nvSpPr>
        <p:spPr>
          <a:xfrm>
            <a:off x="411480" y="502920"/>
            <a:ext cx="59436" cy="640080"/>
          </a:xfrm>
          <a:prstGeom prst="rect">
            <a:avLst/>
          </a:prstGeom>
          <a:solidFill>
            <a:srgbClr val="E040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30352" y="475488"/>
            <a:ext cx="5486400" cy="384048"/>
          </a:xfrm>
          <a:prstGeom prst="rect">
            <a:avLst/>
          </a:prstGeom>
          <a:noFill/>
        </p:spPr>
        <p:txBody>
          <a:bodyPr wrap="square">
            <a:spAutoFit/>
          </a:bodyPr>
          <a:lstStyle/>
          <a:p>
            <a:pPr algn="l"/>
            <a:r>
              <a:rPr sz="2600" b="1" i="0">
                <a:solidFill>
                  <a:srgbClr val="FFFFFF"/>
                </a:solidFill>
                <a:latin typeface="Calibri"/>
              </a:rPr>
              <a:t>Avtar</a:t>
            </a:r>
          </a:p>
        </p:txBody>
      </p:sp>
      <p:sp>
        <p:nvSpPr>
          <p:cNvPr id="6" name="TextBox 5"/>
          <p:cNvSpPr txBox="1"/>
          <p:nvPr/>
        </p:nvSpPr>
        <p:spPr>
          <a:xfrm>
            <a:off x="530352" y="859536"/>
            <a:ext cx="6400800" cy="274320"/>
          </a:xfrm>
          <a:prstGeom prst="rect">
            <a:avLst/>
          </a:prstGeom>
          <a:noFill/>
        </p:spPr>
        <p:txBody>
          <a:bodyPr wrap="square">
            <a:spAutoFit/>
          </a:bodyPr>
          <a:lstStyle/>
          <a:p>
            <a:pPr algn="l"/>
            <a:r>
              <a:rPr sz="1300" b="0" i="1">
                <a:solidFill>
                  <a:srgbClr val="E040FB"/>
                </a:solidFill>
                <a:latin typeface="Calibri"/>
              </a:rPr>
              <a:t>Challenge  &amp;  Solution</a:t>
            </a:r>
          </a:p>
        </p:txBody>
      </p:sp>
      <p:sp>
        <p:nvSpPr>
          <p:cNvPr id="7" name="Rectangle 6"/>
          <p:cNvSpPr/>
          <p:nvPr/>
        </p:nvSpPr>
        <p:spPr>
          <a:xfrm>
            <a:off x="411480" y="1325880"/>
            <a:ext cx="2148840" cy="301752"/>
          </a:xfrm>
          <a:prstGeom prst="rect">
            <a:avLst/>
          </a:prstGeom>
          <a:solidFill>
            <a:srgbClr val="111630"/>
          </a:solidFill>
          <a:ln w="15240">
            <a:solidFill>
              <a:srgbClr val="FF5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1344168"/>
            <a:ext cx="2148840" cy="274320"/>
          </a:xfrm>
          <a:prstGeom prst="rect">
            <a:avLst/>
          </a:prstGeom>
          <a:noFill/>
        </p:spPr>
        <p:txBody>
          <a:bodyPr wrap="square">
            <a:spAutoFit/>
          </a:bodyPr>
          <a:lstStyle/>
          <a:p>
            <a:pPr algn="ctr"/>
            <a:r>
              <a:rPr sz="1000" b="1" i="0">
                <a:solidFill>
                  <a:srgbClr val="FFFFFF"/>
                </a:solidFill>
                <a:latin typeface="Calibri"/>
              </a:rPr>
              <a:t>CHALLENGE</a:t>
            </a:r>
          </a:p>
        </p:txBody>
      </p:sp>
      <p:sp>
        <p:nvSpPr>
          <p:cNvPr id="9" name="Rectangle 8"/>
          <p:cNvSpPr/>
          <p:nvPr/>
        </p:nvSpPr>
        <p:spPr>
          <a:xfrm>
            <a:off x="411480" y="1691640"/>
            <a:ext cx="8321040" cy="1316736"/>
          </a:xfrm>
          <a:prstGeom prst="rect">
            <a:avLst/>
          </a:prstGeom>
          <a:solidFill>
            <a:srgbClr val="1A0A0A"/>
          </a:solidFill>
          <a:ln w="15240">
            <a:solidFill>
              <a:srgbClr val="FF5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1691640"/>
            <a:ext cx="50292" cy="1316736"/>
          </a:xfrm>
          <a:prstGeom prst="rect">
            <a:avLst/>
          </a:prstGeom>
          <a:solidFill>
            <a:srgbClr val="FF5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1792224"/>
            <a:ext cx="7955279" cy="1115568"/>
          </a:xfrm>
          <a:prstGeom prst="rect">
            <a:avLst/>
          </a:prstGeom>
          <a:noFill/>
        </p:spPr>
        <p:txBody>
          <a:bodyPr wrap="square">
            <a:spAutoFit/>
          </a:bodyPr>
          <a:lstStyle/>
          <a:p>
            <a:pPr algn="l"/>
            <a:r>
              <a:rPr sz="1300" b="0" i="0">
                <a:solidFill>
                  <a:srgbClr val="FFB0B0"/>
                </a:solidFill>
                <a:latin typeface="Calibri"/>
              </a:rPr>
              <a:t>The original Highway Chase ended after exactly 3,000 m with a WIN screen, making the game feel too short and removing any incentive for players to keep answering questions or practising phishing awareness.</a:t>
            </a:r>
          </a:p>
        </p:txBody>
      </p:sp>
      <p:sp>
        <p:nvSpPr>
          <p:cNvPr id="12" name="Rectangle 11"/>
          <p:cNvSpPr/>
          <p:nvPr/>
        </p:nvSpPr>
        <p:spPr>
          <a:xfrm>
            <a:off x="411480" y="3145536"/>
            <a:ext cx="2148840" cy="301752"/>
          </a:xfrm>
          <a:prstGeom prst="rect">
            <a:avLst/>
          </a:prstGeom>
          <a:solidFill>
            <a:srgbClr val="111630"/>
          </a:solidFill>
          <a:ln w="15240">
            <a:solidFill>
              <a:srgbClr val="E040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1480" y="3163824"/>
            <a:ext cx="2148840" cy="274320"/>
          </a:xfrm>
          <a:prstGeom prst="rect">
            <a:avLst/>
          </a:prstGeom>
          <a:noFill/>
        </p:spPr>
        <p:txBody>
          <a:bodyPr wrap="square">
            <a:spAutoFit/>
          </a:bodyPr>
          <a:lstStyle/>
          <a:p>
            <a:pPr algn="ctr"/>
            <a:r>
              <a:rPr sz="1000" b="1" i="0">
                <a:solidFill>
                  <a:srgbClr val="FFFFFF"/>
                </a:solidFill>
                <a:latin typeface="Calibri"/>
              </a:rPr>
              <a:t>SOLUTION</a:t>
            </a:r>
          </a:p>
        </p:txBody>
      </p:sp>
      <p:sp>
        <p:nvSpPr>
          <p:cNvPr id="14" name="Rectangle 13"/>
          <p:cNvSpPr/>
          <p:nvPr/>
        </p:nvSpPr>
        <p:spPr>
          <a:xfrm>
            <a:off x="411480" y="3511296"/>
            <a:ext cx="8321040" cy="1143000"/>
          </a:xfrm>
          <a:prstGeom prst="rect">
            <a:avLst/>
          </a:prstGeom>
          <a:solidFill>
            <a:srgbClr val="111630"/>
          </a:solidFill>
          <a:ln w="15240">
            <a:solidFill>
              <a:srgbClr val="E040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1480" y="3511296"/>
            <a:ext cx="50292" cy="1143000"/>
          </a:xfrm>
          <a:prstGeom prst="rect">
            <a:avLst/>
          </a:prstGeom>
          <a:solidFill>
            <a:srgbClr val="E040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611880"/>
            <a:ext cx="7955279" cy="960120"/>
          </a:xfrm>
          <a:prstGeom prst="rect">
            <a:avLst/>
          </a:prstGeom>
          <a:noFill/>
        </p:spPr>
        <p:txBody>
          <a:bodyPr wrap="square">
            <a:spAutoFit/>
          </a:bodyPr>
          <a:lstStyle/>
          <a:p>
            <a:pPr algn="l"/>
            <a:r>
              <a:rPr sz="1300" b="0" i="0">
                <a:solidFill>
                  <a:srgbClr val="B0B8CC"/>
                </a:solidFill>
                <a:latin typeface="Calibri"/>
              </a:rPr>
              <a:t>Removed the WIN_DISTANCE = 3000 constant and its win-check from the update() loop entirely. The distance meter was repurposed to show progress within the current 1,500 m checkpoint segment - giving rhythm and reward cues without any artificial finish line.</a:t>
            </a:r>
          </a:p>
        </p:txBody>
      </p:sp>
      <p:sp>
        <p:nvSpPr>
          <p:cNvPr id="17" name="TextBox 16"/>
          <p:cNvSpPr txBox="1"/>
          <p:nvPr/>
        </p:nvSpPr>
        <p:spPr>
          <a:xfrm>
            <a:off x="8046720" y="4754880"/>
            <a:ext cx="822960" cy="274320"/>
          </a:xfrm>
          <a:prstGeom prst="rect">
            <a:avLst/>
          </a:prstGeom>
          <a:noFill/>
        </p:spPr>
        <p:txBody>
          <a:bodyPr wrap="square">
            <a:spAutoFit/>
          </a:bodyPr>
          <a:lstStyle/>
          <a:p>
            <a:pPr algn="r"/>
            <a:r>
              <a:rPr sz="1000" b="0" i="0">
                <a:solidFill>
                  <a:srgbClr val="505878"/>
                </a:solidFill>
                <a:latin typeface="Calibri"/>
              </a:rPr>
              <a:t>12 /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